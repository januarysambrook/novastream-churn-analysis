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8858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line: 'NovaStream knows customers are leaving. This is who, why, and what I'd do first.' Set expectation: five raw tables in, one costed recommendation out. Keep this slide to 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it as a business problem, not a data problem. The five questions are the promise of the deck; slide 10 answers them one by one, in the same order. If you're short on time, read questions 1, 2 and 5 only.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out loud that the data is synthetic; the brief asks for it and it protects your credibility. The 2,030 → 2,000 is your first hint that cleaning mattered; don't explain it here, it's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at the fact table in the middle and say it once: 'Subscriptions is the fact, everything else filters it, and DimDate lets me slice by signup cohort.' The screenshot is the evidence the marker asked for last time, so let it be seen rather than talked over. If asked about the double arrow on Customers: that relationship is one-to-one, and Power BI makes one-to-one bidirectional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that shows you looked before you leapt. The line to land: 'Read straight out of the box, this dataset reports a churn rate of 22.8%. The real answer is 23.9%, and every one of these six issues moves a number.' Have the 999-month tenure ready as the memorable example.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Examiners reward the justification column more than the action column, so read one of them out in full, ideally step 5. The headline to say: 'I lost 30 rows, all of them exact duplicates. Nothing was dropped for being inconvenient.'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get one technical question in the whole presentation it will be here. Be ready to say why DIVIDE rather than '/' (it returns blank instead of an error on a zero denominator), and why the bands are set where they are (roughly even group sizes, and the login cut points match where the churn curve bends).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Numbers before pictures, deliberately. The one line that matters: 'Churned customers had last logged in 25 days ago on average; retained customers 16. That eight-day gap is the largest separation in the dataset.' The table on the left is the reading; the screenshot on the right is where the numbers came from. Do not read either out row by row.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ACT line out loud for each of the three charts. Lead with login recency: 75% churn among dormant customers is the strongest single number in the analysis, on 12 customers, so say the number and the sample size in the same breath. Then use Key influencers on the right as the summary: it ranks the same drivers in the same order using a model that adjusts each factor for the others, and it independently confirms that region, age, gender, payment method and support tickets carry nothing. Its multipliers differ from a hand-calculated odds ratio because they are adjusted; the agreement that matters is the ranking.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the five questions in the order you asked them on slide 2. That symmetry is what makes a deck feel finished. Question 5 is where the marks are: naming what does NOT matter shows you tested rather than assumed. End on the navy box and pause. If asked how you know the two risks add rather than multiply: the odds ratio for auto-renew is 2.27 among annual customers and 2.10 among monthly ones, which is the same effect in both groups, so there is no interaction.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Rank by leverage, not by ease; that's why auto-renew is first. Each impact figure is arithmetic on the cohort sizes in the deck, so show your working if pushed; they are order-of-magnitude estimates, not forecasts, and say so if asked. The A/B line signals you know that two things moving together is not proof of cause, without labouring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rush this slide or apologise through it. Naming limits is what separates an analyst from a chart-maker. The price point in the right-hand column is the strongest thing you say all deck: the chart says cheap customers churn, and the obvious conclusion, to cut prices, is the wrong one. Say that you spotted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them, then offer the one question you'd most like: 'If you take one thing away, it's the 582 monthly customers with auto-renew switched off.' Have the cleaning slide ready to jump back to; it's the most likely question.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8"/>
        </a:solidFill>
        <a:effectLst/>
      </p:bgPr>
    </p:bg>
    <p:spTree>
      <p:nvGrpSpPr>
        <p:cNvPr id="1" name=""/>
        <p:cNvGrpSpPr/>
        <p:nvPr/>
      </p:nvGrpSpPr>
      <p:grpSpPr>
        <a:xfrm>
          <a:off x="0" y="0"/>
          <a:ext cx="0" cy="0"/>
          <a:chOff x="0" y="0"/>
          <a:chExt cx="0" cy="0"/>
        </a:xfrm>
      </p:grpSpPr>
      <p:sp>
        <p:nvSpPr>
          <p:cNvPr id="2" name="Shape 0"/>
          <p:cNvSpPr/>
          <p:nvPr/>
        </p:nvSpPr>
        <p:spPr>
          <a:xfrm>
            <a:off x="10058400" y="-1097280"/>
            <a:ext cx="3291840" cy="3291840"/>
          </a:xfrm>
          <a:prstGeom prst="ellipse">
            <a:avLst/>
          </a:prstGeom>
          <a:solidFill>
            <a:srgbClr val="2E75B6">
              <a:alpha val="30000"/>
            </a:srgbClr>
          </a:solidFill>
          <a:ln/>
        </p:spPr>
        <p:txBody>
          <a:bodyPr/>
          <a:lstStyle/>
          <a:p>
            <a:endParaRPr/>
          </a:p>
        </p:txBody>
      </p:sp>
      <p:sp>
        <p:nvSpPr>
          <p:cNvPr id="3" name="Shape 1"/>
          <p:cNvSpPr/>
          <p:nvPr/>
        </p:nvSpPr>
        <p:spPr>
          <a:xfrm>
            <a:off x="10972800" y="4754880"/>
            <a:ext cx="2560320" cy="2560320"/>
          </a:xfrm>
          <a:prstGeom prst="ellipse">
            <a:avLst/>
          </a:prstGeom>
          <a:solidFill>
            <a:srgbClr val="2E75B6">
              <a:alpha val="20000"/>
            </a:srgbClr>
          </a:solidFill>
          <a:ln/>
        </p:spPr>
        <p:txBody>
          <a:bodyPr/>
          <a:lstStyle/>
          <a:p>
            <a:endParaRPr/>
          </a:p>
        </p:txBody>
      </p:sp>
      <p:sp>
        <p:nvSpPr>
          <p:cNvPr id="4" name="Text 2"/>
          <p:cNvSpPr/>
          <p:nvPr/>
        </p:nvSpPr>
        <p:spPr>
          <a:xfrm>
            <a:off x="822960" y="1371600"/>
            <a:ext cx="10058400" cy="365760"/>
          </a:xfrm>
          <a:prstGeom prst="rect">
            <a:avLst/>
          </a:prstGeom>
          <a:noFill/>
          <a:ln/>
        </p:spPr>
        <p:txBody>
          <a:bodyPr wrap="square" rtlCol="0" anchor="ctr"/>
          <a:lstStyle/>
          <a:p>
            <a:pPr marL="0" indent="0">
              <a:buNone/>
            </a:pPr>
            <a:r>
              <a:rPr lang="en-US" sz="1400" b="1" kern="0" spc="200" dirty="0">
                <a:solidFill>
                  <a:srgbClr val="A9C5E6"/>
                </a:solidFill>
                <a:latin typeface="Arial" pitchFamily="34" charset="0"/>
                <a:ea typeface="Arial" pitchFamily="34" charset="-122"/>
                <a:cs typeface="Arial" pitchFamily="34" charset="-120"/>
              </a:rPr>
              <a:t>POWER BI PL-300  ·  CAPSTONE PROJECT</a:t>
            </a:r>
            <a:endParaRPr lang="en-US" sz="1400" dirty="0"/>
          </a:p>
        </p:txBody>
      </p:sp>
      <p:sp>
        <p:nvSpPr>
          <p:cNvPr id="5" name="Text 3"/>
          <p:cNvSpPr/>
          <p:nvPr/>
        </p:nvSpPr>
        <p:spPr>
          <a:xfrm>
            <a:off x="822960" y="1874520"/>
            <a:ext cx="10332720" cy="1463040"/>
          </a:xfrm>
          <a:prstGeom prst="rect">
            <a:avLst/>
          </a:prstGeom>
          <a:noFill/>
          <a:ln/>
        </p:spPr>
        <p:txBody>
          <a:bodyPr wrap="square" rtlCol="0" anchor="t"/>
          <a:lstStyle/>
          <a:p>
            <a:pPr marL="0" indent="0">
              <a:buNone/>
            </a:pPr>
            <a:r>
              <a:rPr lang="en-US" sz="4000" b="1" dirty="0">
                <a:solidFill>
                  <a:srgbClr val="FFFFFF"/>
                </a:solidFill>
                <a:latin typeface="Arial" pitchFamily="34" charset="0"/>
                <a:ea typeface="Arial" pitchFamily="34" charset="-122"/>
                <a:cs typeface="Arial" pitchFamily="34" charset="-120"/>
              </a:rPr>
              <a:t>Customer Subscription &amp; Churn Analysis</a:t>
            </a:r>
            <a:endParaRPr lang="en-US" sz="4000" dirty="0"/>
          </a:p>
        </p:txBody>
      </p:sp>
      <p:sp>
        <p:nvSpPr>
          <p:cNvPr id="6" name="Shape 4"/>
          <p:cNvSpPr/>
          <p:nvPr/>
        </p:nvSpPr>
        <p:spPr>
          <a:xfrm>
            <a:off x="868680" y="3337560"/>
            <a:ext cx="2926080" cy="0"/>
          </a:xfrm>
          <a:prstGeom prst="line">
            <a:avLst/>
          </a:prstGeom>
          <a:noFill/>
          <a:ln w="38100">
            <a:solidFill>
              <a:srgbClr val="2E75B6"/>
            </a:solidFill>
            <a:prstDash val="solid"/>
          </a:ln>
        </p:spPr>
        <p:txBody>
          <a:bodyPr/>
          <a:lstStyle/>
          <a:p>
            <a:endParaRPr/>
          </a:p>
        </p:txBody>
      </p:sp>
      <p:sp>
        <p:nvSpPr>
          <p:cNvPr id="7" name="Text 5"/>
          <p:cNvSpPr/>
          <p:nvPr/>
        </p:nvSpPr>
        <p:spPr>
          <a:xfrm>
            <a:off x="822960" y="3520440"/>
            <a:ext cx="10058400" cy="365760"/>
          </a:xfrm>
          <a:prstGeom prst="rect">
            <a:avLst/>
          </a:prstGeom>
          <a:noFill/>
          <a:ln/>
        </p:spPr>
        <p:txBody>
          <a:bodyPr wrap="square" rtlCol="0" anchor="ctr"/>
          <a:lstStyle/>
          <a:p>
            <a:pPr marL="0" indent="0">
              <a:buNone/>
            </a:pPr>
            <a:r>
              <a:rPr lang="en-US" sz="1600" i="1" dirty="0">
                <a:solidFill>
                  <a:srgbClr val="CFE0F2"/>
                </a:solidFill>
                <a:latin typeface="Arial" pitchFamily="34" charset="0"/>
                <a:ea typeface="Arial" pitchFamily="34" charset="-122"/>
                <a:cs typeface="Arial" pitchFamily="34" charset="-120"/>
              </a:rPr>
              <a:t>What drives churn at NovaStream, and what to do about it</a:t>
            </a:r>
            <a:endParaRPr lang="en-US" sz="1600" dirty="0"/>
          </a:p>
        </p:txBody>
      </p:sp>
      <p:sp>
        <p:nvSpPr>
          <p:cNvPr id="8" name="Text 6"/>
          <p:cNvSpPr/>
          <p:nvPr/>
        </p:nvSpPr>
        <p:spPr>
          <a:xfrm>
            <a:off x="822960" y="4754880"/>
            <a:ext cx="100584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Learner's name:  January Sambrook</a:t>
            </a:r>
            <a:endParaRPr lang="en-US" sz="1600" dirty="0"/>
          </a:p>
        </p:txBody>
      </p:sp>
      <p:sp>
        <p:nvSpPr>
          <p:cNvPr id="9" name="Text 7"/>
          <p:cNvSpPr/>
          <p:nvPr/>
        </p:nvSpPr>
        <p:spPr>
          <a:xfrm>
            <a:off x="822960" y="5303520"/>
            <a:ext cx="100584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Date:  20 August 2026</a:t>
            </a:r>
            <a:endParaRPr lang="en-US" sz="1600" dirty="0"/>
          </a:p>
        </p:txBody>
      </p:sp>
      <p:sp>
        <p:nvSpPr>
          <p:cNvPr id="10" name="Text 8"/>
          <p:cNvSpPr/>
          <p:nvPr/>
        </p:nvSpPr>
        <p:spPr>
          <a:xfrm>
            <a:off x="822960" y="6172200"/>
            <a:ext cx="5486400" cy="320040"/>
          </a:xfrm>
          <a:prstGeom prst="rect">
            <a:avLst/>
          </a:prstGeom>
          <a:noFill/>
          <a:ln/>
        </p:spPr>
        <p:txBody>
          <a:bodyPr wrap="square" rtlCol="0" anchor="ctr"/>
          <a:lstStyle/>
          <a:p>
            <a:pPr marL="0" indent="0">
              <a:buNone/>
            </a:pPr>
            <a:r>
              <a:rPr lang="en-US" sz="1200" dirty="0">
                <a:solidFill>
                  <a:srgbClr val="8FB0D6"/>
                </a:solidFill>
                <a:latin typeface="Arial" pitchFamily="34" charset="0"/>
                <a:ea typeface="Arial" pitchFamily="34" charset="-122"/>
                <a:cs typeface="Arial" pitchFamily="34" charset="-120"/>
              </a:rPr>
              <a:t>Newto Training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Project Brief</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A subscription business losing one customer in four, and the five questions that find out why.</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2 / 12</a:t>
            </a:r>
            <a:endParaRPr lang="en-US" sz="900" dirty="0"/>
          </a:p>
        </p:txBody>
      </p:sp>
      <p:sp>
        <p:nvSpPr>
          <p:cNvPr id="14" name="Rounded Rectangle 13"/>
          <p:cNvSpPr/>
          <p:nvPr/>
        </p:nvSpPr>
        <p:spPr>
          <a:xfrm>
            <a:off x="548640" y="1600200"/>
            <a:ext cx="4114800" cy="36118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1783080"/>
            <a:ext cx="365760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OBJECTIVES</a:t>
            </a:r>
          </a:p>
        </p:txBody>
      </p:sp>
      <p:sp>
        <p:nvSpPr>
          <p:cNvPr id="16" name="TextBox 15"/>
          <p:cNvSpPr txBox="1"/>
          <p:nvPr/>
        </p:nvSpPr>
        <p:spPr>
          <a:xfrm>
            <a:off x="777240" y="2194560"/>
            <a:ext cx="3657600" cy="3657600"/>
          </a:xfrm>
          <a:prstGeom prst="rect">
            <a:avLst/>
          </a:prstGeom>
          <a:noFill/>
        </p:spPr>
        <p:txBody>
          <a:bodyPr wrap="square" lIns="0" tIns="0" rIns="0" bIns="0" anchor="t">
            <a:spAutoFit/>
          </a:bodyPr>
          <a:lstStyle/>
          <a:p>
            <a:pPr marL="0" indent="0" algn="l">
              <a:lnSpc>
                <a:spcPct val="115000"/>
              </a:lnSpc>
              <a:spcBef>
                <a:spcPts val="0"/>
              </a:spcBef>
              <a:spcAft>
                <a:spcPts val="100"/>
              </a:spcAft>
              <a:buNone/>
            </a:pPr>
            <a:r>
              <a:rPr sz="1250" b="1" i="0">
                <a:solidFill>
                  <a:srgbClr val="1F4E78"/>
                </a:solidFill>
                <a:latin typeface="Arial"/>
              </a:rPr>
              <a:t>Prepare</a:t>
            </a:r>
          </a:p>
          <a:p>
            <a:pPr marL="0" indent="0" algn="l">
              <a:lnSpc>
                <a:spcPct val="115000"/>
              </a:lnSpc>
              <a:spcBef>
                <a:spcPts val="0"/>
              </a:spcBef>
              <a:spcAft>
                <a:spcPts val="0"/>
              </a:spcAft>
              <a:buNone/>
            </a:pPr>
            <a:r>
              <a:rPr sz="1100" b="0" i="0">
                <a:solidFill>
                  <a:srgbClr val="1B2733"/>
                </a:solidFill>
                <a:latin typeface="Arial"/>
              </a:rPr>
              <a:t>Fix the quality issues across five raw tables so the numbers can be trusted.</a:t>
            </a:r>
          </a:p>
          <a:p>
            <a:pPr marL="0" indent="0" algn="l">
              <a:lnSpc>
                <a:spcPct val="115000"/>
              </a:lnSpc>
              <a:spcBef>
                <a:spcPts val="800"/>
              </a:spcBef>
              <a:spcAft>
                <a:spcPts val="100"/>
              </a:spcAft>
              <a:buNone/>
            </a:pPr>
            <a:r>
              <a:rPr sz="1250" b="1" i="0">
                <a:solidFill>
                  <a:srgbClr val="1F4E78"/>
                </a:solidFill>
                <a:latin typeface="Arial"/>
              </a:rPr>
              <a:t>Model</a:t>
            </a:r>
          </a:p>
          <a:p>
            <a:pPr marL="0" indent="0" algn="l">
              <a:lnSpc>
                <a:spcPct val="115000"/>
              </a:lnSpc>
              <a:spcBef>
                <a:spcPts val="0"/>
              </a:spcBef>
              <a:spcAft>
                <a:spcPts val="0"/>
              </a:spcAft>
              <a:buNone/>
            </a:pPr>
            <a:r>
              <a:rPr sz="1100" b="0" i="0">
                <a:solidFill>
                  <a:srgbClr val="1B2733"/>
                </a:solidFill>
                <a:latin typeface="Arial"/>
              </a:rPr>
              <a:t>Build a star schema plus a Date table so every visual answers one question.</a:t>
            </a:r>
          </a:p>
          <a:p>
            <a:pPr marL="0" indent="0" algn="l">
              <a:lnSpc>
                <a:spcPct val="115000"/>
              </a:lnSpc>
              <a:spcBef>
                <a:spcPts val="800"/>
              </a:spcBef>
              <a:spcAft>
                <a:spcPts val="100"/>
              </a:spcAft>
              <a:buNone/>
            </a:pPr>
            <a:r>
              <a:rPr sz="1250" b="1" i="0">
                <a:solidFill>
                  <a:srgbClr val="1F4E78"/>
                </a:solidFill>
                <a:latin typeface="Arial"/>
              </a:rPr>
              <a:t>Analyse</a:t>
            </a:r>
          </a:p>
          <a:p>
            <a:pPr marL="0" indent="0" algn="l">
              <a:lnSpc>
                <a:spcPct val="115000"/>
              </a:lnSpc>
              <a:spcBef>
                <a:spcPts val="0"/>
              </a:spcBef>
              <a:spcAft>
                <a:spcPts val="0"/>
              </a:spcAft>
              <a:buNone/>
            </a:pPr>
            <a:r>
              <a:rPr sz="1100" b="0" i="0">
                <a:solidFill>
                  <a:srgbClr val="1B2733"/>
                </a:solidFill>
                <a:latin typeface="Arial"/>
              </a:rPr>
              <a:t>Separate what genuinely drives churn from what only looks like it does.</a:t>
            </a:r>
          </a:p>
          <a:p>
            <a:pPr marL="0" indent="0" algn="l">
              <a:lnSpc>
                <a:spcPct val="115000"/>
              </a:lnSpc>
              <a:spcBef>
                <a:spcPts val="800"/>
              </a:spcBef>
              <a:spcAft>
                <a:spcPts val="100"/>
              </a:spcAft>
              <a:buNone/>
            </a:pPr>
            <a:r>
              <a:rPr sz="1250" b="1" i="0">
                <a:solidFill>
                  <a:srgbClr val="1F4E78"/>
                </a:solidFill>
                <a:latin typeface="Arial"/>
              </a:rPr>
              <a:t>Communicate</a:t>
            </a:r>
          </a:p>
          <a:p>
            <a:pPr marL="0" indent="0" algn="l">
              <a:lnSpc>
                <a:spcPct val="115000"/>
              </a:lnSpc>
              <a:spcBef>
                <a:spcPts val="0"/>
              </a:spcBef>
              <a:spcAft>
                <a:spcPts val="0"/>
              </a:spcAft>
              <a:buNone/>
            </a:pPr>
            <a:r>
              <a:rPr sz="1100" b="0" i="0">
                <a:solidFill>
                  <a:srgbClr val="1B2733"/>
                </a:solidFill>
                <a:latin typeface="Arial"/>
              </a:rPr>
              <a:t>Turn the finding into actions a non-technical exec can sign off.</a:t>
            </a:r>
          </a:p>
        </p:txBody>
      </p:sp>
      <p:sp>
        <p:nvSpPr>
          <p:cNvPr id="17" name="TextBox 16"/>
          <p:cNvSpPr txBox="1"/>
          <p:nvPr/>
        </p:nvSpPr>
        <p:spPr>
          <a:xfrm>
            <a:off x="4892040" y="1627632"/>
            <a:ext cx="6748272" cy="1463040"/>
          </a:xfrm>
          <a:prstGeom prst="rect">
            <a:avLst/>
          </a:prstGeom>
          <a:noFill/>
        </p:spPr>
        <p:txBody>
          <a:bodyPr wrap="square" lIns="0" tIns="0" rIns="0" bIns="0" anchor="t">
            <a:spAutoFit/>
          </a:bodyPr>
          <a:lstStyle/>
          <a:p>
            <a:pPr marL="0" indent="0" algn="l">
              <a:lnSpc>
                <a:spcPct val="115000"/>
              </a:lnSpc>
              <a:spcBef>
                <a:spcPts val="0"/>
              </a:spcBef>
              <a:spcAft>
                <a:spcPts val="600"/>
              </a:spcAft>
              <a:buNone/>
            </a:pPr>
            <a:r>
              <a:rPr sz="1100" b="1" i="0" spc="100">
                <a:solidFill>
                  <a:srgbClr val="2E75B6"/>
                </a:solidFill>
                <a:latin typeface="Arial"/>
              </a:rPr>
              <a:t>THE SITUATION</a:t>
            </a:r>
          </a:p>
          <a:p>
            <a:pPr marL="0" indent="0" algn="l">
              <a:lnSpc>
                <a:spcPct val="122000"/>
              </a:lnSpc>
              <a:spcBef>
                <a:spcPts val="0"/>
              </a:spcBef>
              <a:spcAft>
                <a:spcPts val="0"/>
              </a:spcAft>
              <a:buNone/>
            </a:pPr>
            <a:r>
              <a:rPr sz="1150" b="0" i="0">
                <a:solidFill>
                  <a:srgbClr val="1B2733"/>
                </a:solidFill>
                <a:latin typeface="Arial"/>
              </a:rPr>
              <a:t>NovaStream is a subscription business whose leadership can see subscribers cancelling but cannot see why. They handed over a raw export of the customer base: five related tables, 2,030 rows, uncleaned. This analysis takes that export from raw files to a ranked set of actions: who is leaving, what separates them from the customers who stay, and where the business should intervene first.</a:t>
            </a:r>
          </a:p>
        </p:txBody>
      </p:sp>
      <p:sp>
        <p:nvSpPr>
          <p:cNvPr id="18" name="TextBox 17"/>
          <p:cNvSpPr txBox="1"/>
          <p:nvPr/>
        </p:nvSpPr>
        <p:spPr>
          <a:xfrm>
            <a:off x="4892040" y="3200400"/>
            <a:ext cx="6748272" cy="2834640"/>
          </a:xfrm>
          <a:prstGeom prst="rect">
            <a:avLst/>
          </a:prstGeom>
          <a:noFill/>
        </p:spPr>
        <p:txBody>
          <a:bodyPr wrap="square" lIns="0" tIns="0" rIns="0" bIns="0" anchor="t">
            <a:spAutoFit/>
          </a:bodyPr>
          <a:lstStyle/>
          <a:p>
            <a:pPr marL="0" indent="0" algn="l">
              <a:lnSpc>
                <a:spcPct val="115000"/>
              </a:lnSpc>
              <a:spcBef>
                <a:spcPts val="0"/>
              </a:spcBef>
              <a:spcAft>
                <a:spcPts val="800"/>
              </a:spcAft>
              <a:buNone/>
            </a:pPr>
            <a:r>
              <a:rPr sz="1100" b="1" i="0" spc="100">
                <a:solidFill>
                  <a:srgbClr val="2E75B6"/>
                </a:solidFill>
                <a:latin typeface="Arial"/>
              </a:rPr>
              <a:t>KEY QUESTIONS TESTED</a:t>
            </a:r>
          </a:p>
          <a:p>
            <a:pPr marL="0" indent="0" algn="l">
              <a:lnSpc>
                <a:spcPct val="118000"/>
              </a:lnSpc>
              <a:spcBef>
                <a:spcPts val="0"/>
              </a:spcBef>
              <a:spcAft>
                <a:spcPts val="700"/>
              </a:spcAft>
              <a:buNone/>
            </a:pPr>
            <a:r>
              <a:rPr sz="1150" b="0" i="0">
                <a:solidFill>
                  <a:srgbClr val="1B2733"/>
                </a:solidFill>
                <a:latin typeface="Arial"/>
              </a:rPr>
              <a:t>1.  What is the overall churn rate, and how many customers does it represent?</a:t>
            </a:r>
          </a:p>
          <a:p>
            <a:pPr marL="0" indent="0" algn="l">
              <a:lnSpc>
                <a:spcPct val="118000"/>
              </a:lnSpc>
              <a:spcBef>
                <a:spcPts val="0"/>
              </a:spcBef>
              <a:spcAft>
                <a:spcPts val="700"/>
              </a:spcAft>
              <a:buNone/>
            </a:pPr>
            <a:r>
              <a:rPr sz="1150" b="0" i="0">
                <a:solidFill>
                  <a:srgbClr val="1B2733"/>
                </a:solidFill>
                <a:latin typeface="Arial"/>
              </a:rPr>
              <a:t>2.  Does contract type (monthly vs annual) relate to churn?</a:t>
            </a:r>
          </a:p>
          <a:p>
            <a:pPr marL="0" indent="0" algn="l">
              <a:lnSpc>
                <a:spcPct val="118000"/>
              </a:lnSpc>
              <a:spcBef>
                <a:spcPts val="0"/>
              </a:spcBef>
              <a:spcAft>
                <a:spcPts val="700"/>
              </a:spcAft>
              <a:buNone/>
            </a:pPr>
            <a:r>
              <a:rPr sz="1150" b="0" i="0">
                <a:solidFill>
                  <a:srgbClr val="1B2733"/>
                </a:solidFill>
                <a:latin typeface="Arial"/>
              </a:rPr>
              <a:t>3.  Do auto-renew, plan tier or price relate to churn?</a:t>
            </a:r>
          </a:p>
          <a:p>
            <a:pPr marL="0" indent="0" algn="l">
              <a:lnSpc>
                <a:spcPct val="118000"/>
              </a:lnSpc>
              <a:spcBef>
                <a:spcPts val="0"/>
              </a:spcBef>
              <a:spcAft>
                <a:spcPts val="700"/>
              </a:spcAft>
              <a:buNone/>
            </a:pPr>
            <a:r>
              <a:rPr sz="1150" b="0" i="0">
                <a:solidFill>
                  <a:srgbClr val="1B2733"/>
                </a:solidFill>
                <a:latin typeface="Arial"/>
              </a:rPr>
              <a:t>4.  Do engagement signals such as usage, login recency, tenure and support tickets separate leavers from stayers?</a:t>
            </a:r>
          </a:p>
          <a:p>
            <a:pPr marL="0" indent="0" algn="l">
              <a:lnSpc>
                <a:spcPct val="118000"/>
              </a:lnSpc>
              <a:spcBef>
                <a:spcPts val="0"/>
              </a:spcBef>
              <a:spcAft>
                <a:spcPts val="700"/>
              </a:spcAft>
              <a:buNone/>
            </a:pPr>
            <a:r>
              <a:rPr sz="1150" b="0" i="0">
                <a:solidFill>
                  <a:srgbClr val="1B2733"/>
                </a:solidFill>
                <a:latin typeface="Arial"/>
              </a:rPr>
              <a:t>5.  Which factors matter most, and which only look like they matter?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Dataset Overview</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Five related tables, 2,000 customers after cleaning, and why the data fits the question.</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3 / 12</a:t>
            </a:r>
            <a:endParaRPr lang="en-US" sz="900" dirty="0"/>
          </a:p>
        </p:txBody>
      </p:sp>
      <p:sp>
        <p:nvSpPr>
          <p:cNvPr id="14" name="Rounded Rectangle 13"/>
          <p:cNvSpPr/>
          <p:nvPr/>
        </p:nvSpPr>
        <p:spPr>
          <a:xfrm>
            <a:off x="548640"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2,000</a:t>
            </a:r>
          </a:p>
        </p:txBody>
      </p:sp>
      <p:sp>
        <p:nvSpPr>
          <p:cNvPr id="16" name="TextBox 15"/>
          <p:cNvSpPr txBox="1"/>
          <p:nvPr/>
        </p:nvSpPr>
        <p:spPr>
          <a:xfrm>
            <a:off x="731520"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Customers after cleaning</a:t>
            </a:r>
          </a:p>
        </p:txBody>
      </p:sp>
      <p:sp>
        <p:nvSpPr>
          <p:cNvPr id="17" name="Rounded Rectangle 16"/>
          <p:cNvSpPr/>
          <p:nvPr/>
        </p:nvSpPr>
        <p:spPr>
          <a:xfrm>
            <a:off x="3358134"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41014"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5</a:t>
            </a:r>
          </a:p>
        </p:txBody>
      </p:sp>
      <p:sp>
        <p:nvSpPr>
          <p:cNvPr id="19" name="TextBox 18"/>
          <p:cNvSpPr txBox="1"/>
          <p:nvPr/>
        </p:nvSpPr>
        <p:spPr>
          <a:xfrm>
            <a:off x="3541014"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Related tables</a:t>
            </a:r>
          </a:p>
        </p:txBody>
      </p:sp>
      <p:sp>
        <p:nvSpPr>
          <p:cNvPr id="20" name="Rounded Rectangle 19"/>
          <p:cNvSpPr/>
          <p:nvPr/>
        </p:nvSpPr>
        <p:spPr>
          <a:xfrm>
            <a:off x="6167628"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508"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23.9%</a:t>
            </a:r>
          </a:p>
        </p:txBody>
      </p:sp>
      <p:sp>
        <p:nvSpPr>
          <p:cNvPr id="22" name="TextBox 21"/>
          <p:cNvSpPr txBox="1"/>
          <p:nvPr/>
        </p:nvSpPr>
        <p:spPr>
          <a:xfrm>
            <a:off x="6350508"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Overall churn rate</a:t>
            </a:r>
          </a:p>
        </p:txBody>
      </p:sp>
      <p:sp>
        <p:nvSpPr>
          <p:cNvPr id="23" name="Rounded Rectangle 22"/>
          <p:cNvSpPr/>
          <p:nvPr/>
        </p:nvSpPr>
        <p:spPr>
          <a:xfrm>
            <a:off x="8977122"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60002"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2019 to 2024</a:t>
            </a:r>
          </a:p>
        </p:txBody>
      </p:sp>
      <p:sp>
        <p:nvSpPr>
          <p:cNvPr id="25" name="TextBox 24"/>
          <p:cNvSpPr txBox="1"/>
          <p:nvPr/>
        </p:nvSpPr>
        <p:spPr>
          <a:xfrm>
            <a:off x="9160002"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Signup window (Jan 19 to Nov 24)</a:t>
            </a:r>
          </a:p>
        </p:txBody>
      </p:sp>
      <p:graphicFrame>
        <p:nvGraphicFramePr>
          <p:cNvPr id="26" name="Table 25"/>
          <p:cNvGraphicFramePr>
            <a:graphicFrameLocks noGrp="1"/>
          </p:cNvGraphicFramePr>
          <p:nvPr/>
        </p:nvGraphicFramePr>
        <p:xfrm>
          <a:off x="548640" y="2697480"/>
          <a:ext cx="11091671" cy="2304288"/>
        </p:xfrm>
        <a:graphic>
          <a:graphicData uri="http://schemas.openxmlformats.org/drawingml/2006/table">
            <a:tbl>
              <a:tblPr>
                <a:tableStyleId>{5C22544A-7EE6-4342-B048-85BDC9FD1C3A}</a:tableStyleId>
              </a:tblPr>
              <a:tblGrid>
                <a:gridCol w="1941042">
                  <a:extLst>
                    <a:ext uri="{9D8B030D-6E8A-4147-A177-3AD203B41FA5}">
                      <a16:colId xmlns:a16="http://schemas.microsoft.com/office/drawing/2014/main" val="20000"/>
                    </a:ext>
                  </a:extLst>
                </a:gridCol>
                <a:gridCol w="1109167">
                  <a:extLst>
                    <a:ext uri="{9D8B030D-6E8A-4147-A177-3AD203B41FA5}">
                      <a16:colId xmlns:a16="http://schemas.microsoft.com/office/drawing/2014/main" val="20001"/>
                    </a:ext>
                  </a:extLst>
                </a:gridCol>
                <a:gridCol w="1571320">
                  <a:extLst>
                    <a:ext uri="{9D8B030D-6E8A-4147-A177-3AD203B41FA5}">
                      <a16:colId xmlns:a16="http://schemas.microsoft.com/office/drawing/2014/main" val="20002"/>
                    </a:ext>
                  </a:extLst>
                </a:gridCol>
                <a:gridCol w="6470142">
                  <a:extLst>
                    <a:ext uri="{9D8B030D-6E8A-4147-A177-3AD203B41FA5}">
                      <a16:colId xmlns:a16="http://schemas.microsoft.com/office/drawing/2014/main" val="20003"/>
                    </a:ext>
                  </a:extLst>
                </a:gridCol>
              </a:tblGrid>
              <a:tr h="292608">
                <a:tc>
                  <a:txBody>
                    <a:bodyPr/>
                    <a:lstStyle/>
                    <a:p>
                      <a:pPr>
                        <a:lnSpc>
                          <a:spcPct val="105000"/>
                        </a:lnSpc>
                        <a:spcAft>
                          <a:spcPts val="0"/>
                        </a:spcAft>
                      </a:pPr>
                      <a:r>
                        <a:rPr sz="1050" b="1">
                          <a:solidFill>
                            <a:srgbClr val="FFFFFF"/>
                          </a:solidFill>
                          <a:latin typeface="Arial"/>
                        </a:rPr>
                        <a:t>File</a:t>
                      </a:r>
                    </a:p>
                  </a:txBody>
                  <a:tcPr marL="82296" marR="82296" marT="41148" marB="41148" anchor="ctr">
                    <a:solidFill>
                      <a:srgbClr val="1F4E78"/>
                    </a:solidFill>
                  </a:tcPr>
                </a:tc>
                <a:tc>
                  <a:txBody>
                    <a:bodyPr/>
                    <a:lstStyle/>
                    <a:p>
                      <a:pPr>
                        <a:lnSpc>
                          <a:spcPct val="105000"/>
                        </a:lnSpc>
                        <a:spcAft>
                          <a:spcPts val="0"/>
                        </a:spcAft>
                      </a:pPr>
                      <a:r>
                        <a:rPr sz="1050" b="1">
                          <a:solidFill>
                            <a:srgbClr val="FFFFFF"/>
                          </a:solidFill>
                          <a:latin typeface="Arial"/>
                        </a:rPr>
                        <a:t>Role</a:t>
                      </a:r>
                    </a:p>
                  </a:txBody>
                  <a:tcPr marL="82296" marR="82296" marT="41148" marB="41148" anchor="ctr">
                    <a:solidFill>
                      <a:srgbClr val="1F4E78"/>
                    </a:solidFill>
                  </a:tcPr>
                </a:tc>
                <a:tc>
                  <a:txBody>
                    <a:bodyPr/>
                    <a:lstStyle/>
                    <a:p>
                      <a:pPr>
                        <a:lnSpc>
                          <a:spcPct val="105000"/>
                        </a:lnSpc>
                        <a:spcAft>
                          <a:spcPts val="0"/>
                        </a:spcAft>
                      </a:pPr>
                      <a:r>
                        <a:rPr sz="1050" b="1">
                          <a:solidFill>
                            <a:srgbClr val="FFFFFF"/>
                          </a:solidFill>
                          <a:latin typeface="Arial"/>
                        </a:rPr>
                        <a:t>Rows (raw → clean)</a:t>
                      </a:r>
                    </a:p>
                  </a:txBody>
                  <a:tcPr marL="82296" marR="82296" marT="41148" marB="41148" anchor="ctr">
                    <a:solidFill>
                      <a:srgbClr val="1F4E78"/>
                    </a:solidFill>
                  </a:tcPr>
                </a:tc>
                <a:tc>
                  <a:txBody>
                    <a:bodyPr/>
                    <a:lstStyle/>
                    <a:p>
                      <a:pPr>
                        <a:lnSpc>
                          <a:spcPct val="105000"/>
                        </a:lnSpc>
                        <a:spcAft>
                          <a:spcPts val="0"/>
                        </a:spcAft>
                      </a:pPr>
                      <a:r>
                        <a:rPr sz="1050" b="1">
                          <a:solidFill>
                            <a:srgbClr val="FFFFFF"/>
                          </a:solidFill>
                          <a:latin typeface="Arial"/>
                        </a:rPr>
                        <a:t>What it holds</a:t>
                      </a:r>
                    </a:p>
                  </a:txBody>
                  <a:tcPr marL="82296" marR="82296" marT="41148" marB="41148" anchor="ctr">
                    <a:solidFill>
                      <a:srgbClr val="1F4E78"/>
                    </a:solidFill>
                  </a:tcPr>
                </a:tc>
                <a:extLst>
                  <a:ext uri="{0D108BD9-81ED-4DB2-BD59-A6C34878D82A}">
                    <a16:rowId xmlns:a16="http://schemas.microsoft.com/office/drawing/2014/main" val="10000"/>
                  </a:ext>
                </a:extLst>
              </a:tr>
              <a:tr h="402336">
                <a:tc>
                  <a:txBody>
                    <a:bodyPr/>
                    <a:lstStyle/>
                    <a:p>
                      <a:pPr>
                        <a:lnSpc>
                          <a:spcPct val="105000"/>
                        </a:lnSpc>
                        <a:spcAft>
                          <a:spcPts val="0"/>
                        </a:spcAft>
                      </a:pPr>
                      <a:r>
                        <a:rPr sz="1050" b="1">
                          <a:solidFill>
                            <a:srgbClr val="1B2733"/>
                          </a:solidFill>
                          <a:latin typeface="Arial"/>
                        </a:rPr>
                        <a:t>Subscriptions.csv</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Fact</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2,030 → 2,000</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One row per customer: contract, plan, price, tenure, usage, logins, tickets, plus the Churned target.</a:t>
                      </a:r>
                    </a:p>
                  </a:txBody>
                  <a:tcPr marL="82296" marR="82296" marT="41148" marB="41148" anchor="ctr">
                    <a:solidFill>
                      <a:srgbClr val="FFFFFF"/>
                    </a:solidFill>
                  </a:tcPr>
                </a:tc>
                <a:extLst>
                  <a:ext uri="{0D108BD9-81ED-4DB2-BD59-A6C34878D82A}">
                    <a16:rowId xmlns:a16="http://schemas.microsoft.com/office/drawing/2014/main" val="10001"/>
                  </a:ext>
                </a:extLst>
              </a:tr>
              <a:tr h="402336">
                <a:tc>
                  <a:txBody>
                    <a:bodyPr/>
                    <a:lstStyle/>
                    <a:p>
                      <a:pPr>
                        <a:lnSpc>
                          <a:spcPct val="105000"/>
                        </a:lnSpc>
                        <a:spcAft>
                          <a:spcPts val="0"/>
                        </a:spcAft>
                      </a:pPr>
                      <a:r>
                        <a:rPr sz="1050" b="1">
                          <a:solidFill>
                            <a:srgbClr val="1B2733"/>
                          </a:solidFill>
                          <a:latin typeface="Arial"/>
                        </a:rPr>
                        <a:t>Customers.csv</a:t>
                      </a:r>
                    </a:p>
                  </a:txBody>
                  <a:tcPr marL="82296" marR="82296" marT="41148" marB="41148" anchor="ctr">
                    <a:solidFill>
                      <a:srgbClr val="EAF1F9"/>
                    </a:solidFill>
                  </a:tcPr>
                </a:tc>
                <a:tc>
                  <a:txBody>
                    <a:bodyPr/>
                    <a:lstStyle/>
                    <a:p>
                      <a:pPr>
                        <a:lnSpc>
                          <a:spcPct val="105000"/>
                        </a:lnSpc>
                        <a:spcAft>
                          <a:spcPts val="0"/>
                        </a:spcAft>
                      </a:pPr>
                      <a:r>
                        <a:rPr sz="1050" b="0">
                          <a:solidFill>
                            <a:srgbClr val="1B2733"/>
                          </a:solidFill>
                          <a:latin typeface="Arial"/>
                        </a:rPr>
                        <a:t>Dimension</a:t>
                      </a:r>
                    </a:p>
                  </a:txBody>
                  <a:tcPr marL="82296" marR="82296" marT="41148" marB="41148" anchor="ctr">
                    <a:solidFill>
                      <a:srgbClr val="EAF1F9"/>
                    </a:solidFill>
                  </a:tcPr>
                </a:tc>
                <a:tc>
                  <a:txBody>
                    <a:bodyPr/>
                    <a:lstStyle/>
                    <a:p>
                      <a:pPr>
                        <a:lnSpc>
                          <a:spcPct val="105000"/>
                        </a:lnSpc>
                        <a:spcAft>
                          <a:spcPts val="0"/>
                        </a:spcAft>
                      </a:pPr>
                      <a:r>
                        <a:rPr sz="1050" b="0">
                          <a:solidFill>
                            <a:srgbClr val="1B2733"/>
                          </a:solidFill>
                          <a:latin typeface="Arial"/>
                        </a:rPr>
                        <a:t>2,005 → 2,000</a:t>
                      </a:r>
                    </a:p>
                  </a:txBody>
                  <a:tcPr marL="82296" marR="82296" marT="41148" marB="41148" anchor="ctr">
                    <a:solidFill>
                      <a:srgbClr val="EAF1F9"/>
                    </a:solidFill>
                  </a:tcPr>
                </a:tc>
                <a:tc>
                  <a:txBody>
                    <a:bodyPr/>
                    <a:lstStyle/>
                    <a:p>
                      <a:pPr>
                        <a:lnSpc>
                          <a:spcPct val="105000"/>
                        </a:lnSpc>
                        <a:spcAft>
                          <a:spcPts val="0"/>
                        </a:spcAft>
                      </a:pPr>
                      <a:r>
                        <a:rPr sz="1050" b="0">
                          <a:solidFill>
                            <a:srgbClr val="1B2733"/>
                          </a:solidFill>
                          <a:latin typeface="Arial"/>
                        </a:rPr>
                        <a:t>Customer name, date of birth, gender. Source of the derived Age field.</a:t>
                      </a:r>
                    </a:p>
                  </a:txBody>
                  <a:tcPr marL="82296" marR="82296" marT="41148" marB="41148" anchor="ctr">
                    <a:solidFill>
                      <a:srgbClr val="EAF1F9"/>
                    </a:solidFill>
                  </a:tcPr>
                </a:tc>
                <a:extLst>
                  <a:ext uri="{0D108BD9-81ED-4DB2-BD59-A6C34878D82A}">
                    <a16:rowId xmlns:a16="http://schemas.microsoft.com/office/drawing/2014/main" val="10002"/>
                  </a:ext>
                </a:extLst>
              </a:tr>
              <a:tr h="402336">
                <a:tc>
                  <a:txBody>
                    <a:bodyPr/>
                    <a:lstStyle/>
                    <a:p>
                      <a:pPr>
                        <a:lnSpc>
                          <a:spcPct val="105000"/>
                        </a:lnSpc>
                        <a:spcAft>
                          <a:spcPts val="0"/>
                        </a:spcAft>
                      </a:pPr>
                      <a:r>
                        <a:rPr sz="1050" b="1">
                          <a:solidFill>
                            <a:srgbClr val="1B2733"/>
                          </a:solidFill>
                          <a:latin typeface="Arial"/>
                        </a:rPr>
                        <a:t>Plans.csv</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Dimension</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3</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Basic / Standard / Premium and their base monthly price.</a:t>
                      </a:r>
                    </a:p>
                  </a:txBody>
                  <a:tcPr marL="82296" marR="82296" marT="41148" marB="41148" anchor="ctr">
                    <a:solidFill>
                      <a:srgbClr val="FFFFFF"/>
                    </a:solidFill>
                  </a:tcPr>
                </a:tc>
                <a:extLst>
                  <a:ext uri="{0D108BD9-81ED-4DB2-BD59-A6C34878D82A}">
                    <a16:rowId xmlns:a16="http://schemas.microsoft.com/office/drawing/2014/main" val="10003"/>
                  </a:ext>
                </a:extLst>
              </a:tr>
              <a:tr h="402336">
                <a:tc>
                  <a:txBody>
                    <a:bodyPr/>
                    <a:lstStyle/>
                    <a:p>
                      <a:pPr>
                        <a:lnSpc>
                          <a:spcPct val="105000"/>
                        </a:lnSpc>
                        <a:spcAft>
                          <a:spcPts val="0"/>
                        </a:spcAft>
                      </a:pPr>
                      <a:r>
                        <a:rPr sz="1050" b="1">
                          <a:solidFill>
                            <a:srgbClr val="1B2733"/>
                          </a:solidFill>
                          <a:latin typeface="Arial"/>
                        </a:rPr>
                        <a:t>Regions.csv</a:t>
                      </a:r>
                    </a:p>
                  </a:txBody>
                  <a:tcPr marL="82296" marR="82296" marT="41148" marB="41148" anchor="ctr">
                    <a:solidFill>
                      <a:srgbClr val="EAF1F9"/>
                    </a:solidFill>
                  </a:tcPr>
                </a:tc>
                <a:tc>
                  <a:txBody>
                    <a:bodyPr/>
                    <a:lstStyle/>
                    <a:p>
                      <a:pPr>
                        <a:lnSpc>
                          <a:spcPct val="105000"/>
                        </a:lnSpc>
                        <a:spcAft>
                          <a:spcPts val="0"/>
                        </a:spcAft>
                      </a:pPr>
                      <a:r>
                        <a:rPr sz="1050" b="0">
                          <a:solidFill>
                            <a:srgbClr val="1B2733"/>
                          </a:solidFill>
                          <a:latin typeface="Arial"/>
                        </a:rPr>
                        <a:t>Dimension</a:t>
                      </a:r>
                    </a:p>
                  </a:txBody>
                  <a:tcPr marL="82296" marR="82296" marT="41148" marB="41148" anchor="ctr">
                    <a:solidFill>
                      <a:srgbClr val="EAF1F9"/>
                    </a:solidFill>
                  </a:tcPr>
                </a:tc>
                <a:tc>
                  <a:txBody>
                    <a:bodyPr/>
                    <a:lstStyle/>
                    <a:p>
                      <a:pPr>
                        <a:lnSpc>
                          <a:spcPct val="105000"/>
                        </a:lnSpc>
                        <a:spcAft>
                          <a:spcPts val="0"/>
                        </a:spcAft>
                      </a:pPr>
                      <a:r>
                        <a:rPr sz="1050" b="0">
                          <a:solidFill>
                            <a:srgbClr val="1B2733"/>
                          </a:solidFill>
                          <a:latin typeface="Arial"/>
                        </a:rPr>
                        <a:t>4</a:t>
                      </a:r>
                    </a:p>
                  </a:txBody>
                  <a:tcPr marL="82296" marR="82296" marT="41148" marB="41148" anchor="ctr">
                    <a:solidFill>
                      <a:srgbClr val="EAF1F9"/>
                    </a:solidFill>
                  </a:tcPr>
                </a:tc>
                <a:tc>
                  <a:txBody>
                    <a:bodyPr/>
                    <a:lstStyle/>
                    <a:p>
                      <a:pPr>
                        <a:lnSpc>
                          <a:spcPct val="105000"/>
                        </a:lnSpc>
                        <a:spcAft>
                          <a:spcPts val="0"/>
                        </a:spcAft>
                      </a:pPr>
                      <a:r>
                        <a:rPr sz="1050" b="0">
                          <a:solidFill>
                            <a:srgbClr val="1B2733"/>
                          </a:solidFill>
                          <a:latin typeface="Arial"/>
                        </a:rPr>
                        <a:t>North / South / East / West, all United Kingdom.</a:t>
                      </a:r>
                    </a:p>
                  </a:txBody>
                  <a:tcPr marL="82296" marR="82296" marT="41148" marB="41148" anchor="ctr">
                    <a:solidFill>
                      <a:srgbClr val="EAF1F9"/>
                    </a:solidFill>
                  </a:tcPr>
                </a:tc>
                <a:extLst>
                  <a:ext uri="{0D108BD9-81ED-4DB2-BD59-A6C34878D82A}">
                    <a16:rowId xmlns:a16="http://schemas.microsoft.com/office/drawing/2014/main" val="10004"/>
                  </a:ext>
                </a:extLst>
              </a:tr>
              <a:tr h="402336">
                <a:tc>
                  <a:txBody>
                    <a:bodyPr/>
                    <a:lstStyle/>
                    <a:p>
                      <a:pPr>
                        <a:lnSpc>
                          <a:spcPct val="105000"/>
                        </a:lnSpc>
                        <a:spcAft>
                          <a:spcPts val="0"/>
                        </a:spcAft>
                      </a:pPr>
                      <a:r>
                        <a:rPr sz="1050" b="1">
                          <a:solidFill>
                            <a:srgbClr val="1B2733"/>
                          </a:solidFill>
                          <a:latin typeface="Arial"/>
                        </a:rPr>
                        <a:t>PaymentMethods.csv</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Dimension</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4</a:t>
                      </a:r>
                    </a:p>
                  </a:txBody>
                  <a:tcPr marL="82296" marR="82296" marT="41148" marB="41148" anchor="ctr">
                    <a:solidFill>
                      <a:srgbClr val="FFFFFF"/>
                    </a:solidFill>
                  </a:tcPr>
                </a:tc>
                <a:tc>
                  <a:txBody>
                    <a:bodyPr/>
                    <a:lstStyle/>
                    <a:p>
                      <a:pPr>
                        <a:lnSpc>
                          <a:spcPct val="105000"/>
                        </a:lnSpc>
                        <a:spcAft>
                          <a:spcPts val="0"/>
                        </a:spcAft>
                      </a:pPr>
                      <a:r>
                        <a:rPr sz="1050" b="0">
                          <a:solidFill>
                            <a:srgbClr val="1B2733"/>
                          </a:solidFill>
                          <a:latin typeface="Arial"/>
                        </a:rPr>
                        <a:t>Credit Card, Bank Transfer, PayPal, Direct Debit and their type.</a:t>
                      </a:r>
                    </a:p>
                  </a:txBody>
                  <a:tcPr marL="82296" marR="82296" marT="41148" marB="41148" anchor="ctr">
                    <a:solidFill>
                      <a:srgbClr val="FFFFFF"/>
                    </a:solidFill>
                  </a:tcPr>
                </a:tc>
                <a:extLst>
                  <a:ext uri="{0D108BD9-81ED-4DB2-BD59-A6C34878D82A}">
                    <a16:rowId xmlns:a16="http://schemas.microsoft.com/office/drawing/2014/main" val="10005"/>
                  </a:ext>
                </a:extLst>
              </a:tr>
            </a:tbl>
          </a:graphicData>
        </a:graphic>
      </p:graphicFrame>
      <p:sp>
        <p:nvSpPr>
          <p:cNvPr id="27" name="TextBox 26"/>
          <p:cNvSpPr txBox="1"/>
          <p:nvPr/>
        </p:nvSpPr>
        <p:spPr>
          <a:xfrm>
            <a:off x="548640" y="5138928"/>
            <a:ext cx="11091672" cy="914400"/>
          </a:xfrm>
          <a:prstGeom prst="rect">
            <a:avLst/>
          </a:prstGeom>
          <a:noFill/>
        </p:spPr>
        <p:txBody>
          <a:bodyPr wrap="square" lIns="0" tIns="0" rIns="0" bIns="0" anchor="t">
            <a:spAutoFit/>
          </a:bodyPr>
          <a:lstStyle/>
          <a:p>
            <a:pPr marL="0" indent="0" algn="l">
              <a:lnSpc>
                <a:spcPct val="115000"/>
              </a:lnSpc>
              <a:spcBef>
                <a:spcPts val="0"/>
              </a:spcBef>
              <a:spcAft>
                <a:spcPts val="600"/>
              </a:spcAft>
              <a:buNone/>
            </a:pPr>
            <a:r>
              <a:rPr sz="1050" b="0" i="1">
                <a:solidFill>
                  <a:srgbClr val="6B7785"/>
                </a:solidFill>
                <a:latin typeface="Arial"/>
              </a:rPr>
              <a:t>Source: a synthetic teaching dataset supplied with the PL-300 capstone. It is not real customer data: the method and the modelling are real, the effect sizes are illustrative.</a:t>
            </a:r>
          </a:p>
          <a:p>
            <a:pPr marL="0" indent="0" algn="l">
              <a:lnSpc>
                <a:spcPct val="115000"/>
              </a:lnSpc>
              <a:spcBef>
                <a:spcPts val="0"/>
              </a:spcBef>
              <a:spcAft>
                <a:spcPts val="0"/>
              </a:spcAft>
              <a:buNone/>
            </a:pPr>
            <a:r>
              <a:rPr sz="1100" b="0" i="0">
                <a:solidFill>
                  <a:srgbClr val="1B2733"/>
                </a:solidFill>
                <a:latin typeface="Arial"/>
              </a:rPr>
              <a:t>Why it fits the question: the churn outcome sits on the same row as both the commercial terms (contract, plan, price) and the behavioural signals (usage, login recency, tenure, tickets), so the two can be compared directly.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Dataset Structure</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One fact table, four dimensions, and a Date table built in DAX.</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4 / 12</a:t>
            </a:r>
            <a:endParaRPr lang="en-US" sz="900" dirty="0"/>
          </a:p>
        </p:txBody>
      </p:sp>
      <p:sp>
        <p:nvSpPr>
          <p:cNvPr id="14" name="Rounded Rectangle 13"/>
          <p:cNvSpPr/>
          <p:nvPr/>
        </p:nvSpPr>
        <p:spPr>
          <a:xfrm>
            <a:off x="548640" y="1600200"/>
            <a:ext cx="3246120" cy="45262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1783080"/>
            <a:ext cx="283464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KEY VARIABLES</a:t>
            </a:r>
          </a:p>
        </p:txBody>
      </p:sp>
      <p:sp>
        <p:nvSpPr>
          <p:cNvPr id="16" name="TextBox 15"/>
          <p:cNvSpPr txBox="1"/>
          <p:nvPr/>
        </p:nvSpPr>
        <p:spPr>
          <a:xfrm>
            <a:off x="749808" y="2194560"/>
            <a:ext cx="2834640" cy="3749039"/>
          </a:xfrm>
          <a:prstGeom prst="rect">
            <a:avLst/>
          </a:prstGeom>
          <a:noFill/>
        </p:spPr>
        <p:txBody>
          <a:bodyPr wrap="square" lIns="0" tIns="0" rIns="0" bIns="0" anchor="t">
            <a:spAutoFit/>
          </a:bodyPr>
          <a:lstStyle/>
          <a:p>
            <a:pPr marL="0" indent="0" algn="l">
              <a:lnSpc>
                <a:spcPct val="115000"/>
              </a:lnSpc>
              <a:spcBef>
                <a:spcPts val="0"/>
              </a:spcBef>
              <a:spcAft>
                <a:spcPts val="200"/>
              </a:spcAft>
              <a:buNone/>
            </a:pPr>
            <a:r>
              <a:rPr sz="900" b="1" i="0" spc="100">
                <a:solidFill>
                  <a:srgbClr val="2E75B6"/>
                </a:solidFill>
                <a:latin typeface="Arial"/>
              </a:rPr>
              <a:t>TARGET</a:t>
            </a:r>
          </a:p>
          <a:p>
            <a:pPr marL="0" indent="0" algn="l">
              <a:lnSpc>
                <a:spcPct val="116000"/>
              </a:lnSpc>
              <a:spcBef>
                <a:spcPts val="0"/>
              </a:spcBef>
              <a:spcAft>
                <a:spcPts val="0"/>
              </a:spcAft>
              <a:buNone/>
            </a:pPr>
            <a:r>
              <a:rPr sz="1000" b="0" i="0">
                <a:solidFill>
                  <a:srgbClr val="1B2733"/>
                </a:solidFill>
                <a:latin typeface="Arial"/>
              </a:rPr>
              <a:t>Churned (Yes / No, categorical)</a:t>
            </a:r>
          </a:p>
          <a:p>
            <a:pPr marL="0" indent="0" algn="l">
              <a:lnSpc>
                <a:spcPct val="115000"/>
              </a:lnSpc>
              <a:spcBef>
                <a:spcPts val="900"/>
              </a:spcBef>
              <a:spcAft>
                <a:spcPts val="200"/>
              </a:spcAft>
              <a:buNone/>
            </a:pPr>
            <a:r>
              <a:rPr sz="900" b="1" i="0" spc="100">
                <a:solidFill>
                  <a:srgbClr val="2E75B6"/>
                </a:solidFill>
                <a:latin typeface="Arial"/>
              </a:rPr>
              <a:t>CATEGORICAL</a:t>
            </a:r>
          </a:p>
          <a:p>
            <a:pPr marL="0" indent="0" algn="l">
              <a:lnSpc>
                <a:spcPct val="116000"/>
              </a:lnSpc>
              <a:spcBef>
                <a:spcPts val="0"/>
              </a:spcBef>
              <a:spcAft>
                <a:spcPts val="0"/>
              </a:spcAft>
              <a:buNone/>
            </a:pPr>
            <a:r>
              <a:rPr sz="1000" b="0" i="0">
                <a:solidFill>
                  <a:srgbClr val="1B2733"/>
                </a:solidFill>
                <a:latin typeface="Arial"/>
              </a:rPr>
              <a:t>ContractType, AutoRenew, PlanName, Region, MethodName, Gender</a:t>
            </a:r>
          </a:p>
          <a:p>
            <a:pPr marL="0" indent="0" algn="l">
              <a:lnSpc>
                <a:spcPct val="115000"/>
              </a:lnSpc>
              <a:spcBef>
                <a:spcPts val="900"/>
              </a:spcBef>
              <a:spcAft>
                <a:spcPts val="200"/>
              </a:spcAft>
              <a:buNone/>
            </a:pPr>
            <a:r>
              <a:rPr sz="900" b="1" i="0" spc="100">
                <a:solidFill>
                  <a:srgbClr val="2E75B6"/>
                </a:solidFill>
                <a:latin typeface="Arial"/>
              </a:rPr>
              <a:t>NUMERICAL</a:t>
            </a:r>
          </a:p>
          <a:p>
            <a:pPr marL="0" indent="0" algn="l">
              <a:lnSpc>
                <a:spcPct val="116000"/>
              </a:lnSpc>
              <a:spcBef>
                <a:spcPts val="0"/>
              </a:spcBef>
              <a:spcAft>
                <a:spcPts val="0"/>
              </a:spcAft>
              <a:buNone/>
            </a:pPr>
            <a:r>
              <a:rPr sz="1000" b="0" i="0">
                <a:solidFill>
                  <a:srgbClr val="1B2733"/>
                </a:solidFill>
                <a:latin typeface="Arial"/>
              </a:rPr>
              <a:t>MonthlyCharge, TenureMonths, AvgUsageHours, LastLoginDays, SupportTickets, Age</a:t>
            </a:r>
          </a:p>
          <a:p>
            <a:pPr marL="0" indent="0" algn="l">
              <a:lnSpc>
                <a:spcPct val="115000"/>
              </a:lnSpc>
              <a:spcBef>
                <a:spcPts val="900"/>
              </a:spcBef>
              <a:spcAft>
                <a:spcPts val="200"/>
              </a:spcAft>
              <a:buNone/>
            </a:pPr>
            <a:r>
              <a:rPr sz="900" b="1" i="0" spc="100">
                <a:solidFill>
                  <a:srgbClr val="2E75B6"/>
                </a:solidFill>
                <a:latin typeface="Arial"/>
              </a:rPr>
              <a:t>DATE</a:t>
            </a:r>
          </a:p>
          <a:p>
            <a:pPr marL="0" indent="0" algn="l">
              <a:lnSpc>
                <a:spcPct val="116000"/>
              </a:lnSpc>
              <a:spcBef>
                <a:spcPts val="0"/>
              </a:spcBef>
              <a:spcAft>
                <a:spcPts val="0"/>
              </a:spcAft>
              <a:buNone/>
            </a:pPr>
            <a:r>
              <a:rPr sz="1000" b="0" i="0">
                <a:solidFill>
                  <a:srgbClr val="1B2733"/>
                </a:solidFill>
                <a:latin typeface="Arial"/>
              </a:rPr>
              <a:t>SignupDate related to DimDate[Date]</a:t>
            </a:r>
          </a:p>
          <a:p>
            <a:pPr marL="0" indent="0" algn="l">
              <a:lnSpc>
                <a:spcPct val="115000"/>
              </a:lnSpc>
              <a:spcBef>
                <a:spcPts val="900"/>
              </a:spcBef>
              <a:spcAft>
                <a:spcPts val="200"/>
              </a:spcAft>
              <a:buNone/>
            </a:pPr>
            <a:r>
              <a:rPr sz="900" b="1" i="0" spc="100">
                <a:solidFill>
                  <a:srgbClr val="2E75B6"/>
                </a:solidFill>
                <a:latin typeface="Arial"/>
              </a:rPr>
              <a:t>KEYS</a:t>
            </a:r>
          </a:p>
          <a:p>
            <a:pPr marL="0" indent="0" algn="l">
              <a:lnSpc>
                <a:spcPct val="116000"/>
              </a:lnSpc>
              <a:spcBef>
                <a:spcPts val="0"/>
              </a:spcBef>
              <a:spcAft>
                <a:spcPts val="0"/>
              </a:spcAft>
              <a:buNone/>
            </a:pPr>
            <a:r>
              <a:rPr sz="1000" b="0" i="0">
                <a:solidFill>
                  <a:srgbClr val="1B2733"/>
                </a:solidFill>
                <a:latin typeface="Arial"/>
              </a:rPr>
              <a:t>CustomerID (text), PlanID, RegionID, PaymentMethodID (whole number)</a:t>
            </a:r>
          </a:p>
        </p:txBody>
      </p:sp>
      <p:sp>
        <p:nvSpPr>
          <p:cNvPr id="17" name="TextBox 16"/>
          <p:cNvSpPr txBox="1"/>
          <p:nvPr/>
        </p:nvSpPr>
        <p:spPr>
          <a:xfrm>
            <a:off x="4023360" y="1417320"/>
            <a:ext cx="758952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MODEL VIEW FROM THE .PBIX</a:t>
            </a:r>
          </a:p>
        </p:txBody>
      </p:sp>
      <p:pic>
        <p:nvPicPr>
          <p:cNvPr id="18" name="Picture 17" descr="img_model.png"/>
          <p:cNvPicPr>
            <a:picLocks noChangeAspect="1"/>
          </p:cNvPicPr>
          <p:nvPr/>
        </p:nvPicPr>
        <p:blipFill>
          <a:blip r:embed="rId3"/>
          <a:stretch>
            <a:fillRect/>
          </a:stretch>
        </p:blipFill>
        <p:spPr>
          <a:xfrm>
            <a:off x="4565653" y="1719072"/>
            <a:ext cx="6532364" cy="4041648"/>
          </a:xfrm>
          <a:prstGeom prst="rect">
            <a:avLst/>
          </a:prstGeom>
        </p:spPr>
      </p:pic>
      <p:sp>
        <p:nvSpPr>
          <p:cNvPr id="19" name="TextBox 18"/>
          <p:cNvSpPr txBox="1"/>
          <p:nvPr/>
        </p:nvSpPr>
        <p:spPr>
          <a:xfrm>
            <a:off x="4023360" y="5870448"/>
            <a:ext cx="7616952" cy="365760"/>
          </a:xfrm>
          <a:prstGeom prst="rect">
            <a:avLst/>
          </a:prstGeom>
          <a:noFill/>
        </p:spPr>
        <p:txBody>
          <a:bodyPr wrap="square" lIns="0" tIns="0" rIns="0" bIns="0" anchor="t">
            <a:spAutoFit/>
          </a:bodyPr>
          <a:lstStyle/>
          <a:p>
            <a:pPr marL="0" indent="0" algn="ctr">
              <a:lnSpc>
                <a:spcPct val="115000"/>
              </a:lnSpc>
              <a:spcBef>
                <a:spcPts val="0"/>
              </a:spcBef>
              <a:spcAft>
                <a:spcPts val="0"/>
              </a:spcAft>
              <a:buNone/>
            </a:pPr>
            <a:r>
              <a:rPr sz="950" b="0" i="1">
                <a:solidFill>
                  <a:srgbClr val="6B7785"/>
                </a:solidFill>
                <a:latin typeface="Arial"/>
              </a:rPr>
              <a:t>Four one-to-many relationships, single-direction, plus a one-to-one to Customers. DimDate is marked as the date 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Identified Problems in the Dataset</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Six defects in the raw files, and what each one would have cost.</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5 / 12</a:t>
            </a:r>
            <a:endParaRPr lang="en-US" sz="900" dirty="0"/>
          </a:p>
        </p:txBody>
      </p:sp>
      <p:sp>
        <p:nvSpPr>
          <p:cNvPr id="14" name="Rounded Rectangle 13"/>
          <p:cNvSpPr/>
          <p:nvPr/>
        </p:nvSpPr>
        <p:spPr>
          <a:xfrm>
            <a:off x="548640"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35</a:t>
            </a:r>
          </a:p>
        </p:txBody>
      </p:sp>
      <p:sp>
        <p:nvSpPr>
          <p:cNvPr id="16" name="TextBox 15"/>
          <p:cNvSpPr txBox="1"/>
          <p:nvPr/>
        </p:nvSpPr>
        <p:spPr>
          <a:xfrm>
            <a:off x="731520"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Duplicate rows</a:t>
            </a:r>
          </a:p>
        </p:txBody>
      </p:sp>
      <p:sp>
        <p:nvSpPr>
          <p:cNvPr id="17" name="Rounded Rectangle 16"/>
          <p:cNvSpPr/>
          <p:nvPr/>
        </p:nvSpPr>
        <p:spPr>
          <a:xfrm>
            <a:off x="3358134"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41014"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260</a:t>
            </a:r>
          </a:p>
        </p:txBody>
      </p:sp>
      <p:sp>
        <p:nvSpPr>
          <p:cNvPr id="19" name="TextBox 18"/>
          <p:cNvSpPr txBox="1"/>
          <p:nvPr/>
        </p:nvSpPr>
        <p:spPr>
          <a:xfrm>
            <a:off x="3541014"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Missing values</a:t>
            </a:r>
          </a:p>
        </p:txBody>
      </p:sp>
      <p:sp>
        <p:nvSpPr>
          <p:cNvPr id="20" name="Rounded Rectangle 19"/>
          <p:cNvSpPr/>
          <p:nvPr/>
        </p:nvSpPr>
        <p:spPr>
          <a:xfrm>
            <a:off x="6167628"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508"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9</a:t>
            </a:r>
          </a:p>
        </p:txBody>
      </p:sp>
      <p:sp>
        <p:nvSpPr>
          <p:cNvPr id="22" name="TextBox 21"/>
          <p:cNvSpPr txBox="1"/>
          <p:nvPr/>
        </p:nvSpPr>
        <p:spPr>
          <a:xfrm>
            <a:off x="6350508"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Orphan foreign keys</a:t>
            </a:r>
          </a:p>
        </p:txBody>
      </p:sp>
      <p:sp>
        <p:nvSpPr>
          <p:cNvPr id="23" name="Rounded Rectangle 22"/>
          <p:cNvSpPr/>
          <p:nvPr/>
        </p:nvSpPr>
        <p:spPr>
          <a:xfrm>
            <a:off x="8977122"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60002"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5</a:t>
            </a:r>
          </a:p>
        </p:txBody>
      </p:sp>
      <p:sp>
        <p:nvSpPr>
          <p:cNvPr id="25" name="TextBox 24"/>
          <p:cNvSpPr txBox="1"/>
          <p:nvPr/>
        </p:nvSpPr>
        <p:spPr>
          <a:xfrm>
            <a:off x="9160002"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Impossible outliers</a:t>
            </a:r>
          </a:p>
        </p:txBody>
      </p:sp>
      <p:graphicFrame>
        <p:nvGraphicFramePr>
          <p:cNvPr id="26" name="Table 25"/>
          <p:cNvGraphicFramePr>
            <a:graphicFrameLocks noGrp="1"/>
          </p:cNvGraphicFramePr>
          <p:nvPr>
            <p:extLst>
              <p:ext uri="{D42A27DB-BD31-4B8C-83A1-F6EECF244321}">
                <p14:modId xmlns:p14="http://schemas.microsoft.com/office/powerpoint/2010/main" val="1668725914"/>
              </p:ext>
            </p:extLst>
          </p:nvPr>
        </p:nvGraphicFramePr>
        <p:xfrm>
          <a:off x="548640" y="2697480"/>
          <a:ext cx="11091670" cy="3017520"/>
        </p:xfrm>
        <a:graphic>
          <a:graphicData uri="http://schemas.openxmlformats.org/drawingml/2006/table">
            <a:tbl>
              <a:tblPr>
                <a:tableStyleId>{5C22544A-7EE6-4342-B048-85BDC9FD1C3A}</a:tableStyleId>
              </a:tblPr>
              <a:tblGrid>
                <a:gridCol w="433268">
                  <a:extLst>
                    <a:ext uri="{9D8B030D-6E8A-4147-A177-3AD203B41FA5}">
                      <a16:colId xmlns:a16="http://schemas.microsoft.com/office/drawing/2014/main" val="20000"/>
                    </a:ext>
                  </a:extLst>
                </a:gridCol>
                <a:gridCol w="1819727">
                  <a:extLst>
                    <a:ext uri="{9D8B030D-6E8A-4147-A177-3AD203B41FA5}">
                      <a16:colId xmlns:a16="http://schemas.microsoft.com/office/drawing/2014/main" val="20001"/>
                    </a:ext>
                  </a:extLst>
                </a:gridCol>
                <a:gridCol w="3032879">
                  <a:extLst>
                    <a:ext uri="{9D8B030D-6E8A-4147-A177-3AD203B41FA5}">
                      <a16:colId xmlns:a16="http://schemas.microsoft.com/office/drawing/2014/main" val="20002"/>
                    </a:ext>
                  </a:extLst>
                </a:gridCol>
                <a:gridCol w="1126497">
                  <a:extLst>
                    <a:ext uri="{9D8B030D-6E8A-4147-A177-3AD203B41FA5}">
                      <a16:colId xmlns:a16="http://schemas.microsoft.com/office/drawing/2014/main" val="20003"/>
                    </a:ext>
                  </a:extLst>
                </a:gridCol>
                <a:gridCol w="4679299">
                  <a:extLst>
                    <a:ext uri="{9D8B030D-6E8A-4147-A177-3AD203B41FA5}">
                      <a16:colId xmlns:a16="http://schemas.microsoft.com/office/drawing/2014/main" val="20004"/>
                    </a:ext>
                  </a:extLst>
                </a:gridCol>
              </a:tblGrid>
              <a:tr h="274320">
                <a:tc>
                  <a:txBody>
                    <a:bodyPr/>
                    <a:lstStyle/>
                    <a:p>
                      <a:pPr>
                        <a:lnSpc>
                          <a:spcPct val="105000"/>
                        </a:lnSpc>
                        <a:spcAft>
                          <a:spcPts val="0"/>
                        </a:spcAft>
                      </a:pPr>
                      <a:r>
                        <a:rPr sz="1000" b="1">
                          <a:solidFill>
                            <a:srgbClr val="FFFFFF"/>
                          </a:solidFill>
                          <a:latin typeface="Arial"/>
                        </a:rPr>
                        <a:t>#</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Issue</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Where it sits</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Scale</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Why it would break the analysis</a:t>
                      </a:r>
                    </a:p>
                  </a:txBody>
                  <a:tcPr marL="82296" marR="82296" marT="41148" marB="41148" anchor="ctr">
                    <a:solidFill>
                      <a:srgbClr val="1F4E78"/>
                    </a:solidFill>
                  </a:tcPr>
                </a:tc>
                <a:extLst>
                  <a:ext uri="{0D108BD9-81ED-4DB2-BD59-A6C34878D82A}">
                    <a16:rowId xmlns:a16="http://schemas.microsoft.com/office/drawing/2014/main" val="10000"/>
                  </a:ext>
                </a:extLst>
              </a:tr>
              <a:tr h="457200">
                <a:tc>
                  <a:txBody>
                    <a:bodyPr/>
                    <a:lstStyle/>
                    <a:p>
                      <a:pPr>
                        <a:lnSpc>
                          <a:spcPct val="105000"/>
                        </a:lnSpc>
                        <a:spcAft>
                          <a:spcPts val="0"/>
                        </a:spcAft>
                      </a:pPr>
                      <a:r>
                        <a:rPr sz="1000" b="0">
                          <a:solidFill>
                            <a:srgbClr val="1B2733"/>
                          </a:solidFill>
                          <a:latin typeface="Arial"/>
                        </a:rPr>
                        <a:t>1</a:t>
                      </a:r>
                    </a:p>
                  </a:txBody>
                  <a:tcPr marL="82296" marR="82296" marT="41148" marB="41148" anchor="ctr">
                    <a:solidFill>
                      <a:srgbClr val="FFFFFF"/>
                    </a:solidFill>
                  </a:tcPr>
                </a:tc>
                <a:tc>
                  <a:txBody>
                    <a:bodyPr/>
                    <a:lstStyle/>
                    <a:p>
                      <a:pPr>
                        <a:lnSpc>
                          <a:spcPct val="105000"/>
                        </a:lnSpc>
                        <a:spcAft>
                          <a:spcPts val="0"/>
                        </a:spcAft>
                      </a:pPr>
                      <a:r>
                        <a:rPr sz="1000" b="1">
                          <a:solidFill>
                            <a:srgbClr val="1B2733"/>
                          </a:solidFill>
                          <a:latin typeface="Arial"/>
                        </a:rPr>
                        <a:t>Duplicate customers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Subscriptions and Customers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30 + 5 rows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A repeated key makes the relationship ambiguous and double-counts churned customers.</a:t>
                      </a:r>
                    </a:p>
                  </a:txBody>
                  <a:tcPr marL="82296" marR="82296" marT="41148" marB="41148" anchor="ctr">
                    <a:solidFill>
                      <a:srgbClr val="FFFFFF"/>
                    </a:solidFill>
                  </a:tcPr>
                </a:tc>
                <a:extLst>
                  <a:ext uri="{0D108BD9-81ED-4DB2-BD59-A6C34878D82A}">
                    <a16:rowId xmlns:a16="http://schemas.microsoft.com/office/drawing/2014/main" val="10001"/>
                  </a:ext>
                </a:extLst>
              </a:tr>
              <a:tr h="457200">
                <a:tc>
                  <a:txBody>
                    <a:bodyPr/>
                    <a:lstStyle/>
                    <a:p>
                      <a:pPr>
                        <a:lnSpc>
                          <a:spcPct val="105000"/>
                        </a:lnSpc>
                        <a:spcAft>
                          <a:spcPts val="0"/>
                        </a:spcAft>
                      </a:pPr>
                      <a:r>
                        <a:rPr sz="1000" b="0">
                          <a:solidFill>
                            <a:srgbClr val="1B2733"/>
                          </a:solidFill>
                          <a:latin typeface="Arial"/>
                        </a:rPr>
                        <a:t>2</a:t>
                      </a:r>
                    </a:p>
                  </a:txBody>
                  <a:tcPr marL="82296" marR="82296" marT="41148" marB="41148" anchor="ctr">
                    <a:solidFill>
                      <a:srgbClr val="EAF1F9"/>
                    </a:solidFill>
                  </a:tcPr>
                </a:tc>
                <a:tc>
                  <a:txBody>
                    <a:bodyPr/>
                    <a:lstStyle/>
                    <a:p>
                      <a:pPr>
                        <a:lnSpc>
                          <a:spcPct val="105000"/>
                        </a:lnSpc>
                        <a:spcAft>
                          <a:spcPts val="0"/>
                        </a:spcAft>
                      </a:pPr>
                      <a:r>
                        <a:rPr sz="1000" b="1">
                          <a:solidFill>
                            <a:srgbClr val="1B2733"/>
                          </a:solidFill>
                          <a:latin typeface="Arial"/>
                        </a:rPr>
                        <a:t>Missing values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AvgUsageHours 70, LastLoginDays 40, RegionID 40, PaymentMethodID 50, DateOfBirth 60</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260 cells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Blanks are dropped silently from averages and fall into an unlabelled bar on every slicer.</a:t>
                      </a:r>
                    </a:p>
                  </a:txBody>
                  <a:tcPr marL="82296" marR="82296" marT="41148" marB="41148" anchor="ctr">
                    <a:solidFill>
                      <a:srgbClr val="EAF1F9"/>
                    </a:solidFill>
                  </a:tcPr>
                </a:tc>
                <a:extLst>
                  <a:ext uri="{0D108BD9-81ED-4DB2-BD59-A6C34878D82A}">
                    <a16:rowId xmlns:a16="http://schemas.microsoft.com/office/drawing/2014/main" val="10002"/>
                  </a:ext>
                </a:extLst>
              </a:tr>
              <a:tr h="457200">
                <a:tc>
                  <a:txBody>
                    <a:bodyPr/>
                    <a:lstStyle/>
                    <a:p>
                      <a:pPr>
                        <a:lnSpc>
                          <a:spcPct val="105000"/>
                        </a:lnSpc>
                        <a:spcAft>
                          <a:spcPts val="0"/>
                        </a:spcAft>
                      </a:pPr>
                      <a:r>
                        <a:rPr sz="1000" b="0">
                          <a:solidFill>
                            <a:srgbClr val="1B2733"/>
                          </a:solidFill>
                          <a:latin typeface="Arial"/>
                        </a:rPr>
                        <a:t>3</a:t>
                      </a:r>
                    </a:p>
                  </a:txBody>
                  <a:tcPr marL="82296" marR="82296" marT="41148" marB="41148" anchor="ctr">
                    <a:solidFill>
                      <a:srgbClr val="FFFFFF"/>
                    </a:solidFill>
                  </a:tcPr>
                </a:tc>
                <a:tc>
                  <a:txBody>
                    <a:bodyPr/>
                    <a:lstStyle/>
                    <a:p>
                      <a:pPr>
                        <a:lnSpc>
                          <a:spcPct val="105000"/>
                        </a:lnSpc>
                        <a:spcAft>
                          <a:spcPts val="0"/>
                        </a:spcAft>
                      </a:pPr>
                      <a:r>
                        <a:rPr sz="1000" b="1">
                          <a:solidFill>
                            <a:srgbClr val="1B2733"/>
                          </a:solidFill>
                          <a:latin typeface="Arial"/>
                        </a:rPr>
                        <a:t>Orphan foreign keys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PlanID = 9 (5 rows), RegionID = 7 (4 rows)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9 rows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Keys point at dimension rows that do not exist, so they vanish into a blank once modelled.</a:t>
                      </a:r>
                    </a:p>
                  </a:txBody>
                  <a:tcPr marL="82296" marR="82296" marT="41148" marB="41148" anchor="ctr">
                    <a:solidFill>
                      <a:srgbClr val="FFFFFF"/>
                    </a:solidFill>
                  </a:tcPr>
                </a:tc>
                <a:extLst>
                  <a:ext uri="{0D108BD9-81ED-4DB2-BD59-A6C34878D82A}">
                    <a16:rowId xmlns:a16="http://schemas.microsoft.com/office/drawing/2014/main" val="10003"/>
                  </a:ext>
                </a:extLst>
              </a:tr>
              <a:tr h="457200">
                <a:tc>
                  <a:txBody>
                    <a:bodyPr/>
                    <a:lstStyle/>
                    <a:p>
                      <a:pPr>
                        <a:lnSpc>
                          <a:spcPct val="105000"/>
                        </a:lnSpc>
                        <a:spcAft>
                          <a:spcPts val="0"/>
                        </a:spcAft>
                      </a:pPr>
                      <a:r>
                        <a:rPr sz="1000" b="0">
                          <a:solidFill>
                            <a:srgbClr val="1B2733"/>
                          </a:solidFill>
                          <a:latin typeface="Arial"/>
                        </a:rPr>
                        <a:t>4</a:t>
                      </a:r>
                    </a:p>
                  </a:txBody>
                  <a:tcPr marL="82296" marR="82296" marT="41148" marB="41148" anchor="ctr">
                    <a:solidFill>
                      <a:srgbClr val="EAF1F9"/>
                    </a:solidFill>
                  </a:tcPr>
                </a:tc>
                <a:tc>
                  <a:txBody>
                    <a:bodyPr/>
                    <a:lstStyle/>
                    <a:p>
                      <a:pPr>
                        <a:lnSpc>
                          <a:spcPct val="105000"/>
                        </a:lnSpc>
                        <a:spcAft>
                          <a:spcPts val="0"/>
                        </a:spcAft>
                      </a:pPr>
                      <a:r>
                        <a:rPr sz="1000" b="1">
                          <a:solidFill>
                            <a:srgbClr val="1B2733"/>
                          </a:solidFill>
                          <a:latin typeface="Arial"/>
                        </a:rPr>
                        <a:t>Impossible outliers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TenureMonths = 999 (3), MonthlyCharge = 9999 (2)</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5 rows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Five rows drag mean tenure from 20.1 to 21.6 months and mean charge from £31.19 to £41.01.</a:t>
                      </a:r>
                    </a:p>
                  </a:txBody>
                  <a:tcPr marL="82296" marR="82296" marT="41148" marB="41148" anchor="ctr">
                    <a:solidFill>
                      <a:srgbClr val="EAF1F9"/>
                    </a:solidFill>
                  </a:tcPr>
                </a:tc>
                <a:extLst>
                  <a:ext uri="{0D108BD9-81ED-4DB2-BD59-A6C34878D82A}">
                    <a16:rowId xmlns:a16="http://schemas.microsoft.com/office/drawing/2014/main" val="10004"/>
                  </a:ext>
                </a:extLst>
              </a:tr>
              <a:tr h="457200">
                <a:tc>
                  <a:txBody>
                    <a:bodyPr/>
                    <a:lstStyle/>
                    <a:p>
                      <a:pPr>
                        <a:lnSpc>
                          <a:spcPct val="105000"/>
                        </a:lnSpc>
                        <a:spcAft>
                          <a:spcPts val="0"/>
                        </a:spcAft>
                      </a:pPr>
                      <a:r>
                        <a:rPr sz="1000" b="0">
                          <a:solidFill>
                            <a:srgbClr val="1B2733"/>
                          </a:solidFill>
                          <a:latin typeface="Arial"/>
                        </a:rPr>
                        <a:t>5</a:t>
                      </a:r>
                    </a:p>
                  </a:txBody>
                  <a:tcPr marL="82296" marR="82296" marT="41148" marB="41148" anchor="ctr">
                    <a:solidFill>
                      <a:srgbClr val="FFFFFF"/>
                    </a:solidFill>
                  </a:tcPr>
                </a:tc>
                <a:tc>
                  <a:txBody>
                    <a:bodyPr/>
                    <a:lstStyle/>
                    <a:p>
                      <a:pPr>
                        <a:lnSpc>
                          <a:spcPct val="105000"/>
                        </a:lnSpc>
                        <a:spcAft>
                          <a:spcPts val="0"/>
                        </a:spcAft>
                      </a:pPr>
                      <a:r>
                        <a:rPr sz="1000" b="1">
                          <a:solidFill>
                            <a:srgbClr val="1B2733"/>
                          </a:solidFill>
                          <a:latin typeface="Arial"/>
                        </a:rPr>
                        <a:t>Wrong data type</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MonthlyCharge values carrying a "$"</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60 values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One stray character forces the whole column to text, so no sums, no averages, no bands.</a:t>
                      </a:r>
                    </a:p>
                  </a:txBody>
                  <a:tcPr marL="82296" marR="82296" marT="41148" marB="41148" anchor="ctr">
                    <a:solidFill>
                      <a:srgbClr val="FFFFFF"/>
                    </a:solidFill>
                  </a:tcPr>
                </a:tc>
                <a:extLst>
                  <a:ext uri="{0D108BD9-81ED-4DB2-BD59-A6C34878D82A}">
                    <a16:rowId xmlns:a16="http://schemas.microsoft.com/office/drawing/2014/main" val="10005"/>
                  </a:ext>
                </a:extLst>
              </a:tr>
              <a:tr h="457200">
                <a:tc>
                  <a:txBody>
                    <a:bodyPr/>
                    <a:lstStyle/>
                    <a:p>
                      <a:pPr>
                        <a:lnSpc>
                          <a:spcPct val="105000"/>
                        </a:lnSpc>
                        <a:spcAft>
                          <a:spcPts val="0"/>
                        </a:spcAft>
                      </a:pPr>
                      <a:r>
                        <a:rPr sz="1000" b="0">
                          <a:solidFill>
                            <a:srgbClr val="1B2733"/>
                          </a:solidFill>
                          <a:latin typeface="Arial"/>
                        </a:rPr>
                        <a:t>6</a:t>
                      </a:r>
                    </a:p>
                  </a:txBody>
                  <a:tcPr marL="82296" marR="82296" marT="41148" marB="41148" anchor="ctr">
                    <a:solidFill>
                      <a:srgbClr val="EAF1F9"/>
                    </a:solidFill>
                  </a:tcPr>
                </a:tc>
                <a:tc>
                  <a:txBody>
                    <a:bodyPr/>
                    <a:lstStyle/>
                    <a:p>
                      <a:pPr>
                        <a:lnSpc>
                          <a:spcPct val="105000"/>
                        </a:lnSpc>
                        <a:spcAft>
                          <a:spcPts val="0"/>
                        </a:spcAft>
                      </a:pPr>
                      <a:r>
                        <a:rPr sz="1000" b="1">
                          <a:solidFill>
                            <a:srgbClr val="1B2733"/>
                          </a:solidFill>
                          <a:latin typeface="Arial"/>
                        </a:rPr>
                        <a:t>Inconsistent categories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ContractType (5 spellings), AutoRenew (4), Churned (5), Gender (5)</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n/a</a:t>
                      </a:r>
                    </a:p>
                  </a:txBody>
                  <a:tcPr marL="82296" marR="82296" marT="41148" marB="41148" anchor="ctr">
                    <a:solidFill>
                      <a:srgbClr val="EAF1F9"/>
                    </a:solidFill>
                  </a:tcPr>
                </a:tc>
                <a:tc>
                  <a:txBody>
                    <a:bodyPr/>
                    <a:lstStyle/>
                    <a:p>
                      <a:pPr>
                        <a:lnSpc>
                          <a:spcPct val="105000"/>
                        </a:lnSpc>
                        <a:spcAft>
                          <a:spcPts val="0"/>
                        </a:spcAft>
                      </a:pPr>
                      <a:r>
                        <a:rPr sz="1000" b="0" dirty="0">
                          <a:solidFill>
                            <a:srgbClr val="1B2733"/>
                          </a:solidFill>
                          <a:latin typeface="Arial"/>
                        </a:rPr>
                        <a:t>Churned read as-is gives 22.8%; the true rate is 23.9%. Every chart splits into </a:t>
                      </a:r>
                      <a:r>
                        <a:rPr lang="en-US" sz="1000" b="0" dirty="0">
                          <a:solidFill>
                            <a:srgbClr val="1B2733"/>
                          </a:solidFill>
                          <a:latin typeface="Arial"/>
                        </a:rPr>
                        <a:t>additional</a:t>
                      </a:r>
                      <a:r>
                        <a:rPr sz="1000" b="0" dirty="0">
                          <a:solidFill>
                            <a:srgbClr val="1B2733"/>
                          </a:solidFill>
                          <a:latin typeface="Arial"/>
                        </a:rPr>
                        <a:t> categories.</a:t>
                      </a:r>
                    </a:p>
                  </a:txBody>
                  <a:tcPr marL="82296" marR="82296" marT="41148" marB="41148" anchor="ctr">
                    <a:solidFill>
                      <a:srgbClr val="EAF1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Data Cleaning Process</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Six steps, each with a reason. 2,030 rows in, 2,000 out, no customer dropped for one bad cell.</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6 / 12</a:t>
            </a:r>
            <a:endParaRPr lang="en-US" sz="900" dirty="0"/>
          </a:p>
        </p:txBody>
      </p:sp>
      <p:graphicFrame>
        <p:nvGraphicFramePr>
          <p:cNvPr id="14" name="Table 13"/>
          <p:cNvGraphicFramePr>
            <a:graphicFrameLocks noGrp="1"/>
          </p:cNvGraphicFramePr>
          <p:nvPr/>
        </p:nvGraphicFramePr>
        <p:xfrm>
          <a:off x="548640" y="1627632"/>
          <a:ext cx="11091672" cy="3730752"/>
        </p:xfrm>
        <a:graphic>
          <a:graphicData uri="http://schemas.openxmlformats.org/drawingml/2006/table">
            <a:tbl>
              <a:tblPr>
                <a:tableStyleId>{5C22544A-7EE6-4342-B048-85BDC9FD1C3A}</a:tableStyleId>
              </a:tblPr>
              <a:tblGrid>
                <a:gridCol w="18745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010912">
                  <a:extLst>
                    <a:ext uri="{9D8B030D-6E8A-4147-A177-3AD203B41FA5}">
                      <a16:colId xmlns:a16="http://schemas.microsoft.com/office/drawing/2014/main" val="20002"/>
                    </a:ext>
                  </a:extLst>
                </a:gridCol>
              </a:tblGrid>
              <a:tr h="274320">
                <a:tc>
                  <a:txBody>
                    <a:bodyPr/>
                    <a:lstStyle/>
                    <a:p>
                      <a:pPr>
                        <a:lnSpc>
                          <a:spcPct val="105000"/>
                        </a:lnSpc>
                        <a:spcAft>
                          <a:spcPts val="0"/>
                        </a:spcAft>
                      </a:pPr>
                      <a:r>
                        <a:rPr sz="1000" b="1">
                          <a:solidFill>
                            <a:srgbClr val="FFFFFF"/>
                          </a:solidFill>
                          <a:latin typeface="Arial"/>
                        </a:rPr>
                        <a:t>Step</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What I did</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Why, and what the alternative would have cost</a:t>
                      </a:r>
                    </a:p>
                  </a:txBody>
                  <a:tcPr marL="82296" marR="82296" marT="41148" marB="41148" anchor="ctr">
                    <a:solidFill>
                      <a:srgbClr val="1F4E78"/>
                    </a:solidFill>
                  </a:tcPr>
                </a:tc>
                <a:extLst>
                  <a:ext uri="{0D108BD9-81ED-4DB2-BD59-A6C34878D82A}">
                    <a16:rowId xmlns:a16="http://schemas.microsoft.com/office/drawing/2014/main" val="10000"/>
                  </a:ext>
                </a:extLst>
              </a:tr>
              <a:tr h="576072">
                <a:tc>
                  <a:txBody>
                    <a:bodyPr/>
                    <a:lstStyle/>
                    <a:p>
                      <a:pPr>
                        <a:lnSpc>
                          <a:spcPct val="105000"/>
                        </a:lnSpc>
                        <a:spcAft>
                          <a:spcPts val="0"/>
                        </a:spcAft>
                      </a:pPr>
                      <a:r>
                        <a:rPr sz="1000" b="1">
                          <a:solidFill>
                            <a:srgbClr val="1B2733"/>
                          </a:solidFill>
                          <a:latin typeface="Arial"/>
                        </a:rPr>
                        <a:t>1  De-duplicate</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Removed 30 exact duplicate rows from Subscriptions and 5 from Customers. CustomerID is now unique in both tables.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A duplicated dimension key makes the relationship ambiguous; left in, the same churned customer is counted twice.</a:t>
                      </a:r>
                    </a:p>
                  </a:txBody>
                  <a:tcPr marL="82296" marR="82296" marT="41148" marB="41148" anchor="ctr">
                    <a:solidFill>
                      <a:srgbClr val="FFFFFF"/>
                    </a:solidFill>
                  </a:tcPr>
                </a:tc>
                <a:extLst>
                  <a:ext uri="{0D108BD9-81ED-4DB2-BD59-A6C34878D82A}">
                    <a16:rowId xmlns:a16="http://schemas.microsoft.com/office/drawing/2014/main" val="10001"/>
                  </a:ext>
                </a:extLst>
              </a:tr>
              <a:tr h="576072">
                <a:tc>
                  <a:txBody>
                    <a:bodyPr/>
                    <a:lstStyle/>
                    <a:p>
                      <a:pPr>
                        <a:lnSpc>
                          <a:spcPct val="105000"/>
                        </a:lnSpc>
                        <a:spcAft>
                          <a:spcPts val="0"/>
                        </a:spcAft>
                      </a:pPr>
                      <a:r>
                        <a:rPr sz="1000" b="1">
                          <a:solidFill>
                            <a:srgbClr val="1B2733"/>
                          </a:solidFill>
                          <a:latin typeface="Arial"/>
                        </a:rPr>
                        <a:t>2  Standardise categories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Mapped M / monthly → Monthly, Yearly → Annual; Y / N / 0 → Yes / No; M / F / female → Male / Female.</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One value per category, so a bar chart shows two bars rather than five, and the churn measure counts every churner.</a:t>
                      </a:r>
                    </a:p>
                  </a:txBody>
                  <a:tcPr marL="82296" marR="82296" marT="41148" marB="41148" anchor="ctr">
                    <a:solidFill>
                      <a:srgbClr val="EAF1F9"/>
                    </a:solidFill>
                  </a:tcPr>
                </a:tc>
                <a:extLst>
                  <a:ext uri="{0D108BD9-81ED-4DB2-BD59-A6C34878D82A}">
                    <a16:rowId xmlns:a16="http://schemas.microsoft.com/office/drawing/2014/main" val="10002"/>
                  </a:ext>
                </a:extLst>
              </a:tr>
              <a:tr h="576072">
                <a:tc>
                  <a:txBody>
                    <a:bodyPr/>
                    <a:lstStyle/>
                    <a:p>
                      <a:pPr>
                        <a:lnSpc>
                          <a:spcPct val="105000"/>
                        </a:lnSpc>
                        <a:spcAft>
                          <a:spcPts val="0"/>
                        </a:spcAft>
                      </a:pPr>
                      <a:r>
                        <a:rPr sz="1000" b="1">
                          <a:solidFill>
                            <a:srgbClr val="1B2733"/>
                          </a:solidFill>
                          <a:latin typeface="Arial"/>
                        </a:rPr>
                        <a:t>3  Fix data types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Stripped "$" from MonthlyCharge → decimal. Set SignupDate and DateOfBirth to date using UK locale (dd/mm/yyyy).</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Text columns cannot aggregate or band. The wrong locale silently swaps day and month for the first 12 days of each month.</a:t>
                      </a:r>
                    </a:p>
                  </a:txBody>
                  <a:tcPr marL="82296" marR="82296" marT="41148" marB="41148" anchor="ctr">
                    <a:solidFill>
                      <a:srgbClr val="FFFFFF"/>
                    </a:solidFill>
                  </a:tcPr>
                </a:tc>
                <a:extLst>
                  <a:ext uri="{0D108BD9-81ED-4DB2-BD59-A6C34878D82A}">
                    <a16:rowId xmlns:a16="http://schemas.microsoft.com/office/drawing/2014/main" val="10003"/>
                  </a:ext>
                </a:extLst>
              </a:tr>
              <a:tr h="576072">
                <a:tc>
                  <a:txBody>
                    <a:bodyPr/>
                    <a:lstStyle/>
                    <a:p>
                      <a:pPr>
                        <a:lnSpc>
                          <a:spcPct val="105000"/>
                        </a:lnSpc>
                        <a:spcAft>
                          <a:spcPts val="0"/>
                        </a:spcAft>
                      </a:pPr>
                      <a:r>
                        <a:rPr sz="1000" b="1">
                          <a:solidFill>
                            <a:srgbClr val="1B2733"/>
                          </a:solidFill>
                          <a:latin typeface="Arial"/>
                        </a:rPr>
                        <a:t>4  Treat outliers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TenureMonths = 999 and MonthlyCharge = 9999 set to blank. The five rows were kept.</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These are impossible, not merely extreme. The rest of each row is still valid churn evidence, so deleting the row throws away good data.</a:t>
                      </a:r>
                    </a:p>
                  </a:txBody>
                  <a:tcPr marL="82296" marR="82296" marT="41148" marB="41148" anchor="ctr">
                    <a:solidFill>
                      <a:srgbClr val="EAF1F9"/>
                    </a:solidFill>
                  </a:tcPr>
                </a:tc>
                <a:extLst>
                  <a:ext uri="{0D108BD9-81ED-4DB2-BD59-A6C34878D82A}">
                    <a16:rowId xmlns:a16="http://schemas.microsoft.com/office/drawing/2014/main" val="10004"/>
                  </a:ext>
                </a:extLst>
              </a:tr>
              <a:tr h="576072">
                <a:tc>
                  <a:txBody>
                    <a:bodyPr/>
                    <a:lstStyle/>
                    <a:p>
                      <a:pPr>
                        <a:lnSpc>
                          <a:spcPct val="105000"/>
                        </a:lnSpc>
                        <a:spcAft>
                          <a:spcPts val="0"/>
                        </a:spcAft>
                      </a:pPr>
                      <a:r>
                        <a:rPr sz="1000" b="1">
                          <a:solidFill>
                            <a:srgbClr val="1B2733"/>
                          </a:solidFill>
                          <a:latin typeface="Arial"/>
                        </a:rPr>
                        <a:t>5  Handle blanks</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Left AvgUsageHours (70), LastLoginDays (40) and DateOfBirth (60) blank and excluded them from averages. No imputation.</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Mean-imputing would pull every group toward the middle and shrink exactly the gaps being tested. Blank is honest; the mean is a guess wearing a number.</a:t>
                      </a:r>
                    </a:p>
                  </a:txBody>
                  <a:tcPr marL="82296" marR="82296" marT="41148" marB="41148" anchor="ctr">
                    <a:solidFill>
                      <a:srgbClr val="FFFFFF"/>
                    </a:solidFill>
                  </a:tcPr>
                </a:tc>
                <a:extLst>
                  <a:ext uri="{0D108BD9-81ED-4DB2-BD59-A6C34878D82A}">
                    <a16:rowId xmlns:a16="http://schemas.microsoft.com/office/drawing/2014/main" val="10005"/>
                  </a:ext>
                </a:extLst>
              </a:tr>
              <a:tr h="576072">
                <a:tc>
                  <a:txBody>
                    <a:bodyPr/>
                    <a:lstStyle/>
                    <a:p>
                      <a:pPr>
                        <a:lnSpc>
                          <a:spcPct val="105000"/>
                        </a:lnSpc>
                        <a:spcAft>
                          <a:spcPts val="0"/>
                        </a:spcAft>
                      </a:pPr>
                      <a:r>
                        <a:rPr sz="1000" b="1">
                          <a:solidFill>
                            <a:srgbClr val="1B2733"/>
                          </a:solidFill>
                          <a:latin typeface="Arial"/>
                        </a:rPr>
                        <a:t>6  Resolve orphan keys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Routed PlanID 9, RegionID 7 and the blank Region / Payment keys to an explicit "Unknown" member.</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Keeps 99 rows visible and labelled in the totals instead of dropping them into an unexplained blank bar.</a:t>
                      </a:r>
                    </a:p>
                  </a:txBody>
                  <a:tcPr marL="82296" marR="82296" marT="41148" marB="41148" anchor="ctr">
                    <a:solidFill>
                      <a:srgbClr val="EAF1F9"/>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548640" y="5623560"/>
            <a:ext cx="11091672" cy="54864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050" b="1" i="0">
                <a:solidFill>
                  <a:srgbClr val="1F4E78"/>
                </a:solidFill>
                <a:latin typeface="Arial"/>
              </a:rPr>
              <a:t>Before → after:  Subscriptions 2,030 → 2,000 rows (−1.5%)  ·  Customers 2,005 → 2,000 rows  ·  Columns 13 → 19 in the fact table (six derived fields added).  No customer was dropped for a bad value in a single column.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Data Transformation &amp; Modelling</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Five relationships, a Date table, six derived fields and three measures.</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7 / 12</a:t>
            </a:r>
            <a:endParaRPr lang="en-US" sz="900" dirty="0"/>
          </a:p>
        </p:txBody>
      </p:sp>
      <p:sp>
        <p:nvSpPr>
          <p:cNvPr id="14" name="Rounded Rectangle 13"/>
          <p:cNvSpPr/>
          <p:nvPr/>
        </p:nvSpPr>
        <p:spPr>
          <a:xfrm>
            <a:off x="548640" y="1600200"/>
            <a:ext cx="4114800" cy="3977639"/>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1783080"/>
            <a:ext cx="365760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NEW FIELDS CREATED</a:t>
            </a:r>
          </a:p>
        </p:txBody>
      </p:sp>
      <p:sp>
        <p:nvSpPr>
          <p:cNvPr id="16" name="TextBox 15"/>
          <p:cNvSpPr txBox="1"/>
          <p:nvPr/>
        </p:nvSpPr>
        <p:spPr>
          <a:xfrm>
            <a:off x="777240" y="2194560"/>
            <a:ext cx="3657600" cy="3749039"/>
          </a:xfrm>
          <a:prstGeom prst="rect">
            <a:avLst/>
          </a:prstGeom>
          <a:noFill/>
        </p:spPr>
        <p:txBody>
          <a:bodyPr wrap="square" lIns="0" tIns="0" rIns="0" bIns="0" anchor="t">
            <a:spAutoFit/>
          </a:bodyPr>
          <a:lstStyle/>
          <a:p>
            <a:pPr marL="0" indent="0" algn="l">
              <a:lnSpc>
                <a:spcPct val="115000"/>
              </a:lnSpc>
              <a:spcBef>
                <a:spcPts val="0"/>
              </a:spcBef>
              <a:spcAft>
                <a:spcPts val="100"/>
              </a:spcAft>
              <a:buNone/>
            </a:pPr>
            <a:r>
              <a:rPr sz="1150" b="1" i="0">
                <a:solidFill>
                  <a:srgbClr val="1F4E78"/>
                </a:solidFill>
                <a:latin typeface="Arial"/>
              </a:rPr>
              <a:t>Age</a:t>
            </a:r>
          </a:p>
          <a:p>
            <a:pPr marL="0" indent="0" algn="l">
              <a:lnSpc>
                <a:spcPct val="110000"/>
              </a:lnSpc>
              <a:spcBef>
                <a:spcPts val="0"/>
              </a:spcBef>
              <a:spcAft>
                <a:spcPts val="0"/>
              </a:spcAft>
              <a:buNone/>
            </a:pPr>
            <a:r>
              <a:rPr sz="1050" b="0" i="0">
                <a:solidFill>
                  <a:srgbClr val="6B7785"/>
                </a:solidFill>
                <a:latin typeface="Arial"/>
              </a:rPr>
              <a:t>DATEDIFF from DateOfBirth to today, in years</a:t>
            </a:r>
          </a:p>
          <a:p>
            <a:pPr marL="0" indent="0" algn="l">
              <a:lnSpc>
                <a:spcPct val="115000"/>
              </a:lnSpc>
              <a:spcBef>
                <a:spcPts val="900"/>
              </a:spcBef>
              <a:spcAft>
                <a:spcPts val="100"/>
              </a:spcAft>
              <a:buNone/>
            </a:pPr>
            <a:r>
              <a:rPr sz="1150" b="1" i="0">
                <a:solidFill>
                  <a:srgbClr val="1F4E78"/>
                </a:solidFill>
                <a:latin typeface="Arial"/>
              </a:rPr>
              <a:t>Tenure Band</a:t>
            </a:r>
          </a:p>
          <a:p>
            <a:pPr marL="0" indent="0" algn="l">
              <a:lnSpc>
                <a:spcPct val="110000"/>
              </a:lnSpc>
              <a:spcBef>
                <a:spcPts val="0"/>
              </a:spcBef>
              <a:spcAft>
                <a:spcPts val="0"/>
              </a:spcAft>
              <a:buNone/>
            </a:pPr>
            <a:r>
              <a:rPr sz="1050" b="0" i="0">
                <a:solidFill>
                  <a:srgbClr val="6B7785"/>
                </a:solidFill>
                <a:latin typeface="Arial"/>
              </a:rPr>
              <a:t>Under 6 / 6-11 / 12-23 / 24-35 / 36+ months</a:t>
            </a:r>
          </a:p>
          <a:p>
            <a:pPr marL="0" indent="0" algn="l">
              <a:lnSpc>
                <a:spcPct val="115000"/>
              </a:lnSpc>
              <a:spcBef>
                <a:spcPts val="900"/>
              </a:spcBef>
              <a:spcAft>
                <a:spcPts val="100"/>
              </a:spcAft>
              <a:buNone/>
            </a:pPr>
            <a:r>
              <a:rPr sz="1150" b="1" i="0">
                <a:solidFill>
                  <a:srgbClr val="1F4E78"/>
                </a:solidFill>
                <a:latin typeface="Arial"/>
              </a:rPr>
              <a:t>Usage Band</a:t>
            </a:r>
          </a:p>
          <a:p>
            <a:pPr marL="0" indent="0" algn="l">
              <a:lnSpc>
                <a:spcPct val="110000"/>
              </a:lnSpc>
              <a:spcBef>
                <a:spcPts val="0"/>
              </a:spcBef>
              <a:spcAft>
                <a:spcPts val="0"/>
              </a:spcAft>
              <a:buNone/>
            </a:pPr>
            <a:r>
              <a:rPr sz="1050" b="0" i="0">
                <a:solidFill>
                  <a:srgbClr val="6B7785"/>
                </a:solidFill>
                <a:latin typeface="Arial"/>
              </a:rPr>
              <a:t>Under 10 / 10-30 / 30+ hours a month, plus Unknown</a:t>
            </a:r>
          </a:p>
          <a:p>
            <a:pPr marL="0" indent="0" algn="l">
              <a:lnSpc>
                <a:spcPct val="115000"/>
              </a:lnSpc>
              <a:spcBef>
                <a:spcPts val="900"/>
              </a:spcBef>
              <a:spcAft>
                <a:spcPts val="100"/>
              </a:spcAft>
              <a:buNone/>
            </a:pPr>
            <a:r>
              <a:rPr sz="1150" b="1" i="0">
                <a:solidFill>
                  <a:srgbClr val="1F4E78"/>
                </a:solidFill>
                <a:latin typeface="Arial"/>
              </a:rPr>
              <a:t>Login Recency</a:t>
            </a:r>
          </a:p>
          <a:p>
            <a:pPr marL="0" indent="0" algn="l">
              <a:lnSpc>
                <a:spcPct val="110000"/>
              </a:lnSpc>
              <a:spcBef>
                <a:spcPts val="0"/>
              </a:spcBef>
              <a:spcAft>
                <a:spcPts val="0"/>
              </a:spcAft>
              <a:buNone/>
            </a:pPr>
            <a:r>
              <a:rPr sz="1050" b="0" i="0">
                <a:solidFill>
                  <a:srgbClr val="6B7785"/>
                </a:solidFill>
                <a:latin typeface="Arial"/>
              </a:rPr>
              <a:t>Active / Recent / Inactive / Dormant, by days since last login</a:t>
            </a:r>
          </a:p>
          <a:p>
            <a:pPr marL="0" indent="0" algn="l">
              <a:lnSpc>
                <a:spcPct val="115000"/>
              </a:lnSpc>
              <a:spcBef>
                <a:spcPts val="900"/>
              </a:spcBef>
              <a:spcAft>
                <a:spcPts val="100"/>
              </a:spcAft>
              <a:buNone/>
            </a:pPr>
            <a:r>
              <a:rPr sz="1150" b="1" i="0">
                <a:solidFill>
                  <a:srgbClr val="1F4E78"/>
                </a:solidFill>
                <a:latin typeface="Arial"/>
              </a:rPr>
              <a:t>Charge Band</a:t>
            </a:r>
          </a:p>
          <a:p>
            <a:pPr marL="0" indent="0" algn="l">
              <a:lnSpc>
                <a:spcPct val="110000"/>
              </a:lnSpc>
              <a:spcBef>
                <a:spcPts val="0"/>
              </a:spcBef>
              <a:spcAft>
                <a:spcPts val="0"/>
              </a:spcAft>
              <a:buNone/>
            </a:pPr>
            <a:r>
              <a:rPr sz="1050" b="0" i="0">
                <a:solidFill>
                  <a:srgbClr val="6B7785"/>
                </a:solidFill>
                <a:latin typeface="Arial"/>
              </a:rPr>
              <a:t>Under £20 / £20-39.99 / £40-59.99 / £60+</a:t>
            </a:r>
          </a:p>
          <a:p>
            <a:pPr marL="0" indent="0" algn="l">
              <a:lnSpc>
                <a:spcPct val="115000"/>
              </a:lnSpc>
              <a:spcBef>
                <a:spcPts val="900"/>
              </a:spcBef>
              <a:spcAft>
                <a:spcPts val="100"/>
              </a:spcAft>
              <a:buNone/>
            </a:pPr>
            <a:r>
              <a:rPr sz="1150" b="1" i="0">
                <a:solidFill>
                  <a:srgbClr val="1F4E78"/>
                </a:solidFill>
                <a:latin typeface="Arial"/>
              </a:rPr>
              <a:t>Age Band</a:t>
            </a:r>
          </a:p>
          <a:p>
            <a:pPr marL="0" indent="0" algn="l">
              <a:lnSpc>
                <a:spcPct val="110000"/>
              </a:lnSpc>
              <a:spcBef>
                <a:spcPts val="0"/>
              </a:spcBef>
              <a:spcAft>
                <a:spcPts val="0"/>
              </a:spcAft>
              <a:buNone/>
            </a:pPr>
            <a:r>
              <a:rPr sz="1050" b="0" i="0">
                <a:solidFill>
                  <a:srgbClr val="6B7785"/>
                </a:solidFill>
                <a:latin typeface="Arial"/>
              </a:rPr>
              <a:t>18-24 / 25-34 / 35-44 / 45-54 / 55-64 / 65+</a:t>
            </a:r>
          </a:p>
        </p:txBody>
      </p:sp>
      <p:sp>
        <p:nvSpPr>
          <p:cNvPr id="17" name="TextBox 16"/>
          <p:cNvSpPr txBox="1"/>
          <p:nvPr/>
        </p:nvSpPr>
        <p:spPr>
          <a:xfrm>
            <a:off x="4892040" y="1627632"/>
            <a:ext cx="6748272" cy="2651760"/>
          </a:xfrm>
          <a:prstGeom prst="rect">
            <a:avLst/>
          </a:prstGeom>
          <a:noFill/>
        </p:spPr>
        <p:txBody>
          <a:bodyPr wrap="square" lIns="0" tIns="0" rIns="0" bIns="0" anchor="t">
            <a:spAutoFit/>
          </a:bodyPr>
          <a:lstStyle/>
          <a:p>
            <a:pPr marL="0" indent="0" algn="l">
              <a:lnSpc>
                <a:spcPct val="115000"/>
              </a:lnSpc>
              <a:spcBef>
                <a:spcPts val="0"/>
              </a:spcBef>
              <a:spcAft>
                <a:spcPts val="700"/>
              </a:spcAft>
              <a:buNone/>
            </a:pPr>
            <a:r>
              <a:rPr sz="1100" b="1" i="0" spc="100">
                <a:solidFill>
                  <a:srgbClr val="2E75B6"/>
                </a:solidFill>
                <a:latin typeface="Arial"/>
              </a:rPr>
              <a:t>MODEL</a:t>
            </a:r>
          </a:p>
          <a:p>
            <a:pPr marL="168000" indent="-168000" algn="l">
              <a:lnSpc>
                <a:spcPct val="118000"/>
              </a:lnSpc>
              <a:spcBef>
                <a:spcPts val="0"/>
              </a:spcBef>
              <a:spcAft>
                <a:spcPts val="600"/>
              </a:spcAft>
              <a:buChar char="•"/>
            </a:pPr>
            <a:r>
              <a:rPr sz="1050" b="0" i="0">
                <a:solidFill>
                  <a:srgbClr val="1B2733"/>
                </a:solidFill>
                <a:latin typeface="Arial"/>
              </a:rPr>
              <a:t>Four one-to-many relationships, single-direction, each dimension filtering the fact: Plans[PlanID], Regions[RegionID], PaymentMethods[PaymentMethodID] and DimDate[Date] to Subscriptions[SignupDate].</a:t>
            </a:r>
          </a:p>
          <a:p>
            <a:pPr marL="168000" indent="-168000" algn="l">
              <a:lnSpc>
                <a:spcPct val="118000"/>
              </a:lnSpc>
              <a:spcBef>
                <a:spcPts val="0"/>
              </a:spcBef>
              <a:spcAft>
                <a:spcPts val="600"/>
              </a:spcAft>
              <a:buChar char="•"/>
            </a:pPr>
            <a:r>
              <a:rPr sz="1050" b="0" i="0">
                <a:solidFill>
                  <a:srgbClr val="1B2733"/>
                </a:solidFill>
                <a:latin typeface="Arial"/>
              </a:rPr>
              <a:t>Customers[CustomerID] is one-to-one, because this dataset holds exactly one subscription per customer. Power BI makes one-to-one relationships bidirectional automatically. Kept as a separate dimension so the model still holds if a customer later takes more than one subscription.</a:t>
            </a:r>
          </a:p>
          <a:p>
            <a:pPr marL="168000" indent="-168000" algn="l">
              <a:lnSpc>
                <a:spcPct val="118000"/>
              </a:lnSpc>
              <a:spcBef>
                <a:spcPts val="0"/>
              </a:spcBef>
              <a:spcAft>
                <a:spcPts val="600"/>
              </a:spcAft>
              <a:buChar char="•"/>
            </a:pPr>
            <a:r>
              <a:rPr sz="1050" b="0" i="0">
                <a:solidFill>
                  <a:srgbClr val="1B2733"/>
                </a:solidFill>
                <a:latin typeface="Arial"/>
              </a:rPr>
              <a:t>DimDate built in DAX with CALENDAR over 01/01/2019 to 31/12/2024, marked as the date table, with Year, Quarter, Month Number and Month Name columns for correct sorting.</a:t>
            </a:r>
          </a:p>
        </p:txBody>
      </p:sp>
      <p:sp>
        <p:nvSpPr>
          <p:cNvPr id="18" name="TextBox 17"/>
          <p:cNvSpPr txBox="1"/>
          <p:nvPr/>
        </p:nvSpPr>
        <p:spPr>
          <a:xfrm>
            <a:off x="4892040" y="3794760"/>
            <a:ext cx="6748272" cy="954364"/>
          </a:xfrm>
          <a:prstGeom prst="rect">
            <a:avLst/>
          </a:prstGeom>
          <a:noFill/>
        </p:spPr>
        <p:txBody>
          <a:bodyPr wrap="square" lIns="0" tIns="0" rIns="0" bIns="0" anchor="t">
            <a:spAutoFit/>
          </a:bodyPr>
          <a:lstStyle/>
          <a:p>
            <a:pPr marL="0" indent="0" algn="l">
              <a:lnSpc>
                <a:spcPct val="115000"/>
              </a:lnSpc>
              <a:spcBef>
                <a:spcPts val="0"/>
              </a:spcBef>
              <a:spcAft>
                <a:spcPts val="700"/>
              </a:spcAft>
              <a:buNone/>
            </a:pPr>
            <a:r>
              <a:rPr sz="1100" b="1" i="0" spc="100" dirty="0">
                <a:solidFill>
                  <a:srgbClr val="2E75B6"/>
                </a:solidFill>
                <a:latin typeface="Arial"/>
              </a:rPr>
              <a:t>MEASURES</a:t>
            </a:r>
          </a:p>
          <a:p>
            <a:pPr marL="168000" indent="-168000" algn="l">
              <a:lnSpc>
                <a:spcPct val="115000"/>
              </a:lnSpc>
              <a:spcBef>
                <a:spcPts val="0"/>
              </a:spcBef>
              <a:spcAft>
                <a:spcPts val="500"/>
              </a:spcAft>
              <a:buChar char="•"/>
            </a:pPr>
            <a:r>
              <a:rPr sz="1050" b="0" i="0" dirty="0">
                <a:solidFill>
                  <a:srgbClr val="1B2733"/>
                </a:solidFill>
                <a:latin typeface="Arial"/>
              </a:rPr>
              <a:t>Total Customers = </a:t>
            </a:r>
            <a:r>
              <a:rPr lang="en-US" sz="1050" b="0" i="0" dirty="0">
                <a:solidFill>
                  <a:srgbClr val="1B2733"/>
                </a:solidFill>
                <a:latin typeface="Arial"/>
              </a:rPr>
              <a:t>DISTINCTCOUNT</a:t>
            </a:r>
            <a:r>
              <a:rPr sz="1050" b="0" i="0" dirty="0">
                <a:solidFill>
                  <a:srgbClr val="1B2733"/>
                </a:solidFill>
                <a:latin typeface="Arial"/>
              </a:rPr>
              <a:t> ( Subscriptions )</a:t>
            </a:r>
          </a:p>
          <a:p>
            <a:pPr marL="168000" indent="-168000" algn="l">
              <a:lnSpc>
                <a:spcPct val="115000"/>
              </a:lnSpc>
              <a:spcBef>
                <a:spcPts val="0"/>
              </a:spcBef>
              <a:spcAft>
                <a:spcPts val="500"/>
              </a:spcAft>
              <a:buChar char="•"/>
            </a:pPr>
            <a:r>
              <a:rPr sz="1050" b="0" i="0" dirty="0">
                <a:solidFill>
                  <a:srgbClr val="1B2733"/>
                </a:solidFill>
                <a:latin typeface="Arial"/>
              </a:rPr>
              <a:t>Churned Customers = CALCULATE ( [Total Customers], Subscriptions[Churned] = "Yes" )</a:t>
            </a:r>
          </a:p>
          <a:p>
            <a:pPr marL="168000" indent="-168000" algn="l">
              <a:lnSpc>
                <a:spcPct val="115000"/>
              </a:lnSpc>
              <a:spcBef>
                <a:spcPts val="0"/>
              </a:spcBef>
              <a:spcAft>
                <a:spcPts val="500"/>
              </a:spcAft>
              <a:buChar char="•"/>
            </a:pPr>
            <a:r>
              <a:rPr sz="1050" b="0" i="0" dirty="0">
                <a:solidFill>
                  <a:srgbClr val="1B2733"/>
                </a:solidFill>
                <a:latin typeface="Arial"/>
              </a:rPr>
              <a:t>Churn Rate = DIVIDE ( [Churned Customers], [Total Customers] )</a:t>
            </a:r>
          </a:p>
        </p:txBody>
      </p:sp>
      <p:sp>
        <p:nvSpPr>
          <p:cNvPr id="19" name="TextBox 18"/>
          <p:cNvSpPr txBox="1"/>
          <p:nvPr/>
        </p:nvSpPr>
        <p:spPr>
          <a:xfrm>
            <a:off x="4892040" y="4983480"/>
            <a:ext cx="6748272" cy="82296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050" b="0" i="1">
                <a:solidFill>
                  <a:srgbClr val="6B7785"/>
                </a:solidFill>
                <a:latin typeface="Arial"/>
              </a:rPr>
              <a:t>Why this shape: banding turns continuous behaviour into bars an executive can read at a glance, and a single Churn Rate measure means every visual in the report answers the same question the same way.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Exploratory Data Analysis (EDA)</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Churned and retained customers compared, measure by measure.</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8 / 12</a:t>
            </a:r>
            <a:endParaRPr lang="en-US" sz="900" dirty="0"/>
          </a:p>
        </p:txBody>
      </p:sp>
      <p:sp>
        <p:nvSpPr>
          <p:cNvPr id="14" name="Rounded Rectangle 13"/>
          <p:cNvSpPr/>
          <p:nvPr/>
        </p:nvSpPr>
        <p:spPr>
          <a:xfrm>
            <a:off x="548640"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23.9%</a:t>
            </a:r>
          </a:p>
        </p:txBody>
      </p:sp>
      <p:sp>
        <p:nvSpPr>
          <p:cNvPr id="16" name="TextBox 15"/>
          <p:cNvSpPr txBox="1"/>
          <p:nvPr/>
        </p:nvSpPr>
        <p:spPr>
          <a:xfrm>
            <a:off x="731520"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Overall churn rate</a:t>
            </a:r>
          </a:p>
        </p:txBody>
      </p:sp>
      <p:sp>
        <p:nvSpPr>
          <p:cNvPr id="17" name="Rounded Rectangle 16"/>
          <p:cNvSpPr/>
          <p:nvPr/>
        </p:nvSpPr>
        <p:spPr>
          <a:xfrm>
            <a:off x="3358134"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41014"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478</a:t>
            </a:r>
          </a:p>
        </p:txBody>
      </p:sp>
      <p:sp>
        <p:nvSpPr>
          <p:cNvPr id="19" name="TextBox 18"/>
          <p:cNvSpPr txBox="1"/>
          <p:nvPr/>
        </p:nvSpPr>
        <p:spPr>
          <a:xfrm>
            <a:off x="3541014"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Customers churned</a:t>
            </a:r>
          </a:p>
        </p:txBody>
      </p:sp>
      <p:sp>
        <p:nvSpPr>
          <p:cNvPr id="20" name="Rounded Rectangle 19"/>
          <p:cNvSpPr/>
          <p:nvPr/>
        </p:nvSpPr>
        <p:spPr>
          <a:xfrm>
            <a:off x="6167628"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508"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1,522</a:t>
            </a:r>
          </a:p>
        </p:txBody>
      </p:sp>
      <p:sp>
        <p:nvSpPr>
          <p:cNvPr id="22" name="TextBox 21"/>
          <p:cNvSpPr txBox="1"/>
          <p:nvPr/>
        </p:nvSpPr>
        <p:spPr>
          <a:xfrm>
            <a:off x="6350508"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Customers retained</a:t>
            </a:r>
          </a:p>
        </p:txBody>
      </p:sp>
      <p:sp>
        <p:nvSpPr>
          <p:cNvPr id="23" name="Rounded Rectangle 22"/>
          <p:cNvSpPr/>
          <p:nvPr/>
        </p:nvSpPr>
        <p:spPr>
          <a:xfrm>
            <a:off x="8977122" y="1572768"/>
            <a:ext cx="2663190" cy="86868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60002" y="1691640"/>
            <a:ext cx="2297430" cy="384048"/>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2100" b="1" i="0">
                <a:solidFill>
                  <a:srgbClr val="1F4E78"/>
                </a:solidFill>
                <a:latin typeface="Arial"/>
              </a:rPr>
              <a:t>2,000</a:t>
            </a:r>
          </a:p>
        </p:txBody>
      </p:sp>
      <p:sp>
        <p:nvSpPr>
          <p:cNvPr id="25" name="TextBox 24"/>
          <p:cNvSpPr txBox="1"/>
          <p:nvPr/>
        </p:nvSpPr>
        <p:spPr>
          <a:xfrm>
            <a:off x="9160002" y="2103120"/>
            <a:ext cx="2297430" cy="27432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950" b="1" i="0" spc="100">
                <a:solidFill>
                  <a:srgbClr val="6B7785"/>
                </a:solidFill>
                <a:latin typeface="Arial"/>
              </a:rPr>
              <a:t>Customers analysed</a:t>
            </a:r>
          </a:p>
        </p:txBody>
      </p:sp>
      <p:sp>
        <p:nvSpPr>
          <p:cNvPr id="26" name="TextBox 25"/>
          <p:cNvSpPr txBox="1"/>
          <p:nvPr/>
        </p:nvSpPr>
        <p:spPr>
          <a:xfrm>
            <a:off x="548640" y="2651760"/>
            <a:ext cx="548640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WHAT THE GAPS SAY</a:t>
            </a:r>
          </a:p>
        </p:txBody>
      </p:sp>
      <p:graphicFrame>
        <p:nvGraphicFramePr>
          <p:cNvPr id="27" name="Table 26"/>
          <p:cNvGraphicFramePr>
            <a:graphicFrameLocks noGrp="1"/>
          </p:cNvGraphicFramePr>
          <p:nvPr/>
        </p:nvGraphicFramePr>
        <p:xfrm>
          <a:off x="548640" y="2971800"/>
          <a:ext cx="6400800" cy="2359152"/>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274320">
                <a:tc>
                  <a:txBody>
                    <a:bodyPr/>
                    <a:lstStyle/>
                    <a:p>
                      <a:pPr algn="l">
                        <a:lnSpc>
                          <a:spcPct val="105000"/>
                        </a:lnSpc>
                        <a:spcAft>
                          <a:spcPts val="0"/>
                        </a:spcAft>
                      </a:pPr>
                      <a:r>
                        <a:rPr sz="1050" b="1">
                          <a:solidFill>
                            <a:srgbClr val="FFFFFF"/>
                          </a:solidFill>
                          <a:latin typeface="Arial"/>
                        </a:rPr>
                        <a:t>Measure</a:t>
                      </a:r>
                    </a:p>
                  </a:txBody>
                  <a:tcPr marL="82296" marR="82296" marT="41148" marB="41148" anchor="ctr">
                    <a:solidFill>
                      <a:srgbClr val="1F4E78"/>
                    </a:solidFill>
                  </a:tcPr>
                </a:tc>
                <a:tc>
                  <a:txBody>
                    <a:bodyPr/>
                    <a:lstStyle/>
                    <a:p>
                      <a:pPr algn="ctr">
                        <a:lnSpc>
                          <a:spcPct val="105000"/>
                        </a:lnSpc>
                        <a:spcAft>
                          <a:spcPts val="0"/>
                        </a:spcAft>
                      </a:pPr>
                      <a:r>
                        <a:rPr sz="1050" b="1">
                          <a:solidFill>
                            <a:srgbClr val="FFFFFF"/>
                          </a:solidFill>
                          <a:latin typeface="Arial"/>
                        </a:rPr>
                        <a:t>Gap</a:t>
                      </a:r>
                    </a:p>
                  </a:txBody>
                  <a:tcPr marL="82296" marR="82296" marT="41148" marB="41148" anchor="ctr">
                    <a:solidFill>
                      <a:srgbClr val="1F4E78"/>
                    </a:solidFill>
                  </a:tcPr>
                </a:tc>
                <a:tc>
                  <a:txBody>
                    <a:bodyPr/>
                    <a:lstStyle/>
                    <a:p>
                      <a:pPr algn="l">
                        <a:lnSpc>
                          <a:spcPct val="105000"/>
                        </a:lnSpc>
                        <a:spcAft>
                          <a:spcPts val="0"/>
                        </a:spcAft>
                      </a:pPr>
                      <a:r>
                        <a:rPr sz="1050" b="1">
                          <a:solidFill>
                            <a:srgbClr val="FFFFFF"/>
                          </a:solidFill>
                          <a:latin typeface="Arial"/>
                        </a:rPr>
                        <a:t>Reading</a:t>
                      </a:r>
                    </a:p>
                  </a:txBody>
                  <a:tcPr marL="82296" marR="82296" marT="41148" marB="41148" anchor="ctr">
                    <a:solidFill>
                      <a:srgbClr val="1F4E78"/>
                    </a:solidFill>
                  </a:tcPr>
                </a:tc>
                <a:extLst>
                  <a:ext uri="{0D108BD9-81ED-4DB2-BD59-A6C34878D82A}">
                    <a16:rowId xmlns:a16="http://schemas.microsoft.com/office/drawing/2014/main" val="10000"/>
                  </a:ext>
                </a:extLst>
              </a:tr>
              <a:tr h="347472">
                <a:tc>
                  <a:txBody>
                    <a:bodyPr/>
                    <a:lstStyle/>
                    <a:p>
                      <a:pPr algn="l">
                        <a:lnSpc>
                          <a:spcPct val="105000"/>
                        </a:lnSpc>
                        <a:spcAft>
                          <a:spcPts val="0"/>
                        </a:spcAft>
                      </a:pPr>
                      <a:r>
                        <a:rPr sz="1050" b="1">
                          <a:solidFill>
                            <a:srgbClr val="1B2733"/>
                          </a:solidFill>
                          <a:latin typeface="Arial"/>
                        </a:rPr>
                        <a:t>Days since last login</a:t>
                      </a:r>
                    </a:p>
                  </a:txBody>
                  <a:tcPr marL="82296" marR="82296" marT="41148" marB="41148" anchor="ctr">
                    <a:solidFill>
                      <a:srgbClr val="FFFFFF"/>
                    </a:solidFill>
                  </a:tcPr>
                </a:tc>
                <a:tc>
                  <a:txBody>
                    <a:bodyPr/>
                    <a:lstStyle/>
                    <a:p>
                      <a:pPr algn="ctr">
                        <a:lnSpc>
                          <a:spcPct val="105000"/>
                        </a:lnSpc>
                        <a:spcAft>
                          <a:spcPts val="0"/>
                        </a:spcAft>
                      </a:pPr>
                      <a:r>
                        <a:rPr sz="1050" b="0">
                          <a:solidFill>
                            <a:srgbClr val="2A8C82"/>
                          </a:solidFill>
                          <a:latin typeface="Arial"/>
                        </a:rPr>
                        <a:t>+8.8 days</a:t>
                      </a:r>
                    </a:p>
                  </a:txBody>
                  <a:tcPr marL="82296" marR="82296" marT="41148" marB="41148" anchor="ctr">
                    <a:solidFill>
                      <a:srgbClr val="FFFFFF"/>
                    </a:solidFill>
                  </a:tcPr>
                </a:tc>
                <a:tc>
                  <a:txBody>
                    <a:bodyPr/>
                    <a:lstStyle/>
                    <a:p>
                      <a:pPr algn="l">
                        <a:lnSpc>
                          <a:spcPct val="105000"/>
                        </a:lnSpc>
                        <a:spcAft>
                          <a:spcPts val="0"/>
                        </a:spcAft>
                      </a:pPr>
                      <a:r>
                        <a:rPr sz="1050" b="0">
                          <a:solidFill>
                            <a:srgbClr val="2A8C82"/>
                          </a:solidFill>
                          <a:latin typeface="Arial"/>
                        </a:rPr>
                        <a:t>Largest separation of any measure</a:t>
                      </a:r>
                    </a:p>
                  </a:txBody>
                  <a:tcPr marL="82296" marR="82296" marT="41148" marB="41148" anchor="ctr">
                    <a:solidFill>
                      <a:srgbClr val="FFFFFF"/>
                    </a:solidFill>
                  </a:tcPr>
                </a:tc>
                <a:extLst>
                  <a:ext uri="{0D108BD9-81ED-4DB2-BD59-A6C34878D82A}">
                    <a16:rowId xmlns:a16="http://schemas.microsoft.com/office/drawing/2014/main" val="10001"/>
                  </a:ext>
                </a:extLst>
              </a:tr>
              <a:tr h="347472">
                <a:tc>
                  <a:txBody>
                    <a:bodyPr/>
                    <a:lstStyle/>
                    <a:p>
                      <a:pPr algn="l">
                        <a:lnSpc>
                          <a:spcPct val="105000"/>
                        </a:lnSpc>
                        <a:spcAft>
                          <a:spcPts val="0"/>
                        </a:spcAft>
                      </a:pPr>
                      <a:r>
                        <a:rPr sz="1050" b="1">
                          <a:solidFill>
                            <a:srgbClr val="1B2733"/>
                          </a:solidFill>
                          <a:latin typeface="Arial"/>
                        </a:rPr>
                        <a:t>Average usage hours</a:t>
                      </a:r>
                    </a:p>
                  </a:txBody>
                  <a:tcPr marL="82296" marR="82296" marT="41148" marB="41148" anchor="ctr">
                    <a:solidFill>
                      <a:srgbClr val="EAF1F9"/>
                    </a:solidFill>
                  </a:tcPr>
                </a:tc>
                <a:tc>
                  <a:txBody>
                    <a:bodyPr/>
                    <a:lstStyle/>
                    <a:p>
                      <a:pPr algn="ctr">
                        <a:lnSpc>
                          <a:spcPct val="105000"/>
                        </a:lnSpc>
                        <a:spcAft>
                          <a:spcPts val="0"/>
                        </a:spcAft>
                      </a:pPr>
                      <a:r>
                        <a:rPr sz="1050" b="0">
                          <a:solidFill>
                            <a:srgbClr val="1B2733"/>
                          </a:solidFill>
                          <a:latin typeface="Arial"/>
                        </a:rPr>
                        <a:t>−5.5 hrs</a:t>
                      </a:r>
                    </a:p>
                  </a:txBody>
                  <a:tcPr marL="82296" marR="82296" marT="41148" marB="41148" anchor="ctr">
                    <a:solidFill>
                      <a:srgbClr val="EAF1F9"/>
                    </a:solidFill>
                  </a:tcPr>
                </a:tc>
                <a:tc>
                  <a:txBody>
                    <a:bodyPr/>
                    <a:lstStyle/>
                    <a:p>
                      <a:pPr algn="l">
                        <a:lnSpc>
                          <a:spcPct val="105000"/>
                        </a:lnSpc>
                        <a:spcAft>
                          <a:spcPts val="0"/>
                        </a:spcAft>
                      </a:pPr>
                      <a:r>
                        <a:rPr sz="1050" b="0">
                          <a:solidFill>
                            <a:srgbClr val="1B2733"/>
                          </a:solidFill>
                          <a:latin typeface="Arial"/>
                        </a:rPr>
                        <a:t>Second largest</a:t>
                      </a:r>
                    </a:p>
                  </a:txBody>
                  <a:tcPr marL="82296" marR="82296" marT="41148" marB="41148" anchor="ctr">
                    <a:solidFill>
                      <a:srgbClr val="EAF1F9"/>
                    </a:solidFill>
                  </a:tcPr>
                </a:tc>
                <a:extLst>
                  <a:ext uri="{0D108BD9-81ED-4DB2-BD59-A6C34878D82A}">
                    <a16:rowId xmlns:a16="http://schemas.microsoft.com/office/drawing/2014/main" val="10002"/>
                  </a:ext>
                </a:extLst>
              </a:tr>
              <a:tr h="347472">
                <a:tc>
                  <a:txBody>
                    <a:bodyPr/>
                    <a:lstStyle/>
                    <a:p>
                      <a:pPr algn="l">
                        <a:lnSpc>
                          <a:spcPct val="105000"/>
                        </a:lnSpc>
                        <a:spcAft>
                          <a:spcPts val="0"/>
                        </a:spcAft>
                      </a:pPr>
                      <a:r>
                        <a:rPr sz="1050" b="1">
                          <a:solidFill>
                            <a:srgbClr val="1B2733"/>
                          </a:solidFill>
                          <a:latin typeface="Arial"/>
                        </a:rPr>
                        <a:t>Monthly charge</a:t>
                      </a:r>
                    </a:p>
                  </a:txBody>
                  <a:tcPr marL="82296" marR="82296" marT="41148" marB="41148" anchor="ctr">
                    <a:solidFill>
                      <a:srgbClr val="FFFFFF"/>
                    </a:solidFill>
                  </a:tcPr>
                </a:tc>
                <a:tc>
                  <a:txBody>
                    <a:bodyPr/>
                    <a:lstStyle/>
                    <a:p>
                      <a:pPr algn="ctr">
                        <a:lnSpc>
                          <a:spcPct val="105000"/>
                        </a:lnSpc>
                        <a:spcAft>
                          <a:spcPts val="0"/>
                        </a:spcAft>
                      </a:pPr>
                      <a:r>
                        <a:rPr sz="1050" b="0">
                          <a:solidFill>
                            <a:srgbClr val="1B2733"/>
                          </a:solidFill>
                          <a:latin typeface="Arial"/>
                        </a:rPr>
                        <a:t>−£4.25</a:t>
                      </a:r>
                    </a:p>
                  </a:txBody>
                  <a:tcPr marL="82296" marR="82296" marT="41148" marB="41148" anchor="ctr">
                    <a:solidFill>
                      <a:srgbClr val="FFFFFF"/>
                    </a:solidFill>
                  </a:tcPr>
                </a:tc>
                <a:tc>
                  <a:txBody>
                    <a:bodyPr/>
                    <a:lstStyle/>
                    <a:p>
                      <a:pPr algn="l">
                        <a:lnSpc>
                          <a:spcPct val="105000"/>
                        </a:lnSpc>
                        <a:spcAft>
                          <a:spcPts val="0"/>
                        </a:spcAft>
                      </a:pPr>
                      <a:r>
                        <a:rPr sz="1050" b="0">
                          <a:solidFill>
                            <a:srgbClr val="1B2733"/>
                          </a:solidFill>
                          <a:latin typeface="Arial"/>
                        </a:rPr>
                        <a:t>Churners pay less, not more</a:t>
                      </a:r>
                    </a:p>
                  </a:txBody>
                  <a:tcPr marL="82296" marR="82296" marT="41148" marB="41148" anchor="ctr">
                    <a:solidFill>
                      <a:srgbClr val="FFFFFF"/>
                    </a:solidFill>
                  </a:tcPr>
                </a:tc>
                <a:extLst>
                  <a:ext uri="{0D108BD9-81ED-4DB2-BD59-A6C34878D82A}">
                    <a16:rowId xmlns:a16="http://schemas.microsoft.com/office/drawing/2014/main" val="10003"/>
                  </a:ext>
                </a:extLst>
              </a:tr>
              <a:tr h="347472">
                <a:tc>
                  <a:txBody>
                    <a:bodyPr/>
                    <a:lstStyle/>
                    <a:p>
                      <a:pPr algn="l">
                        <a:lnSpc>
                          <a:spcPct val="105000"/>
                        </a:lnSpc>
                        <a:spcAft>
                          <a:spcPts val="0"/>
                        </a:spcAft>
                      </a:pPr>
                      <a:r>
                        <a:rPr sz="1050" b="1">
                          <a:solidFill>
                            <a:srgbClr val="1B2733"/>
                          </a:solidFill>
                          <a:latin typeface="Arial"/>
                        </a:rPr>
                        <a:t>Tenure (months)</a:t>
                      </a:r>
                    </a:p>
                  </a:txBody>
                  <a:tcPr marL="82296" marR="82296" marT="41148" marB="41148" anchor="ctr">
                    <a:solidFill>
                      <a:srgbClr val="EAF1F9"/>
                    </a:solidFill>
                  </a:tcPr>
                </a:tc>
                <a:tc>
                  <a:txBody>
                    <a:bodyPr/>
                    <a:lstStyle/>
                    <a:p>
                      <a:pPr algn="ctr">
                        <a:lnSpc>
                          <a:spcPct val="105000"/>
                        </a:lnSpc>
                        <a:spcAft>
                          <a:spcPts val="0"/>
                        </a:spcAft>
                      </a:pPr>
                      <a:r>
                        <a:rPr sz="1050" b="0">
                          <a:solidFill>
                            <a:srgbClr val="1B2733"/>
                          </a:solidFill>
                          <a:latin typeface="Arial"/>
                        </a:rPr>
                        <a:t>−1.6</a:t>
                      </a:r>
                    </a:p>
                  </a:txBody>
                  <a:tcPr marL="82296" marR="82296" marT="41148" marB="41148" anchor="ctr">
                    <a:solidFill>
                      <a:srgbClr val="EAF1F9"/>
                    </a:solidFill>
                  </a:tcPr>
                </a:tc>
                <a:tc>
                  <a:txBody>
                    <a:bodyPr/>
                    <a:lstStyle/>
                    <a:p>
                      <a:pPr algn="l">
                        <a:lnSpc>
                          <a:spcPct val="105000"/>
                        </a:lnSpc>
                        <a:spcAft>
                          <a:spcPts val="0"/>
                        </a:spcAft>
                      </a:pPr>
                      <a:r>
                        <a:rPr sz="1050" b="0">
                          <a:solidFill>
                            <a:srgbClr val="1B2733"/>
                          </a:solidFill>
                          <a:latin typeface="Arial"/>
                        </a:rPr>
                        <a:t>Mild</a:t>
                      </a:r>
                    </a:p>
                  </a:txBody>
                  <a:tcPr marL="82296" marR="82296" marT="41148" marB="41148" anchor="ctr">
                    <a:solidFill>
                      <a:srgbClr val="EAF1F9"/>
                    </a:solidFill>
                  </a:tcPr>
                </a:tc>
                <a:extLst>
                  <a:ext uri="{0D108BD9-81ED-4DB2-BD59-A6C34878D82A}">
                    <a16:rowId xmlns:a16="http://schemas.microsoft.com/office/drawing/2014/main" val="10004"/>
                  </a:ext>
                </a:extLst>
              </a:tr>
              <a:tr h="347472">
                <a:tc>
                  <a:txBody>
                    <a:bodyPr/>
                    <a:lstStyle/>
                    <a:p>
                      <a:pPr algn="l">
                        <a:lnSpc>
                          <a:spcPct val="105000"/>
                        </a:lnSpc>
                        <a:spcAft>
                          <a:spcPts val="0"/>
                        </a:spcAft>
                      </a:pPr>
                      <a:r>
                        <a:rPr sz="1050" b="1">
                          <a:solidFill>
                            <a:srgbClr val="1B2733"/>
                          </a:solidFill>
                          <a:latin typeface="Arial"/>
                        </a:rPr>
                        <a:t>Support tickets</a:t>
                      </a:r>
                    </a:p>
                  </a:txBody>
                  <a:tcPr marL="82296" marR="82296" marT="41148" marB="41148" anchor="ctr">
                    <a:solidFill>
                      <a:srgbClr val="FFFFFF"/>
                    </a:solidFill>
                  </a:tcPr>
                </a:tc>
                <a:tc>
                  <a:txBody>
                    <a:bodyPr/>
                    <a:lstStyle/>
                    <a:p>
                      <a:pPr algn="ctr">
                        <a:lnSpc>
                          <a:spcPct val="105000"/>
                        </a:lnSpc>
                        <a:spcAft>
                          <a:spcPts val="0"/>
                        </a:spcAft>
                      </a:pPr>
                      <a:r>
                        <a:rPr sz="1050" b="0">
                          <a:solidFill>
                            <a:srgbClr val="1B2733"/>
                          </a:solidFill>
                          <a:latin typeface="Arial"/>
                        </a:rPr>
                        <a:t>+0.13</a:t>
                      </a:r>
                    </a:p>
                  </a:txBody>
                  <a:tcPr marL="82296" marR="82296" marT="41148" marB="41148" anchor="ctr">
                    <a:solidFill>
                      <a:srgbClr val="FFFFFF"/>
                    </a:solidFill>
                  </a:tcPr>
                </a:tc>
                <a:tc>
                  <a:txBody>
                    <a:bodyPr/>
                    <a:lstStyle/>
                    <a:p>
                      <a:pPr algn="l">
                        <a:lnSpc>
                          <a:spcPct val="105000"/>
                        </a:lnSpc>
                        <a:spcAft>
                          <a:spcPts val="0"/>
                        </a:spcAft>
                      </a:pPr>
                      <a:r>
                        <a:rPr sz="1050" b="0">
                          <a:solidFill>
                            <a:srgbClr val="1B2733"/>
                          </a:solidFill>
                          <a:latin typeface="Arial"/>
                        </a:rPr>
                        <a:t>Negligible</a:t>
                      </a:r>
                    </a:p>
                  </a:txBody>
                  <a:tcPr marL="82296" marR="82296" marT="41148" marB="41148" anchor="ctr">
                    <a:solidFill>
                      <a:srgbClr val="FFFFFF"/>
                    </a:solidFill>
                  </a:tcPr>
                </a:tc>
                <a:extLst>
                  <a:ext uri="{0D108BD9-81ED-4DB2-BD59-A6C34878D82A}">
                    <a16:rowId xmlns:a16="http://schemas.microsoft.com/office/drawing/2014/main" val="10005"/>
                  </a:ext>
                </a:extLst>
              </a:tr>
              <a:tr h="347472">
                <a:tc>
                  <a:txBody>
                    <a:bodyPr/>
                    <a:lstStyle/>
                    <a:p>
                      <a:pPr algn="l">
                        <a:lnSpc>
                          <a:spcPct val="105000"/>
                        </a:lnSpc>
                        <a:spcAft>
                          <a:spcPts val="0"/>
                        </a:spcAft>
                      </a:pPr>
                      <a:r>
                        <a:rPr sz="1050" b="1">
                          <a:solidFill>
                            <a:srgbClr val="1B2733"/>
                          </a:solidFill>
                          <a:latin typeface="Arial"/>
                        </a:rPr>
                        <a:t>Age (years)</a:t>
                      </a:r>
                    </a:p>
                  </a:txBody>
                  <a:tcPr marL="82296" marR="82296" marT="41148" marB="41148" anchor="ctr">
                    <a:solidFill>
                      <a:srgbClr val="EAF1F9"/>
                    </a:solidFill>
                  </a:tcPr>
                </a:tc>
                <a:tc>
                  <a:txBody>
                    <a:bodyPr/>
                    <a:lstStyle/>
                    <a:p>
                      <a:pPr algn="ctr">
                        <a:lnSpc>
                          <a:spcPct val="105000"/>
                        </a:lnSpc>
                        <a:spcAft>
                          <a:spcPts val="0"/>
                        </a:spcAft>
                      </a:pPr>
                      <a:r>
                        <a:rPr sz="1050" b="0">
                          <a:solidFill>
                            <a:srgbClr val="1B2733"/>
                          </a:solidFill>
                          <a:latin typeface="Arial"/>
                        </a:rPr>
                        <a:t>+0.2</a:t>
                      </a:r>
                    </a:p>
                  </a:txBody>
                  <a:tcPr marL="82296" marR="82296" marT="41148" marB="41148" anchor="ctr">
                    <a:solidFill>
                      <a:srgbClr val="EAF1F9"/>
                    </a:solidFill>
                  </a:tcPr>
                </a:tc>
                <a:tc>
                  <a:txBody>
                    <a:bodyPr/>
                    <a:lstStyle/>
                    <a:p>
                      <a:pPr algn="l">
                        <a:lnSpc>
                          <a:spcPct val="105000"/>
                        </a:lnSpc>
                        <a:spcAft>
                          <a:spcPts val="0"/>
                        </a:spcAft>
                      </a:pPr>
                      <a:r>
                        <a:rPr sz="1050" b="0">
                          <a:solidFill>
                            <a:srgbClr val="6B7785"/>
                          </a:solidFill>
                          <a:latin typeface="Arial"/>
                        </a:rPr>
                        <a:t>No separation at all</a:t>
                      </a:r>
                    </a:p>
                  </a:txBody>
                  <a:tcPr marL="82296" marR="82296" marT="41148" marB="41148" anchor="ctr">
                    <a:solidFill>
                      <a:srgbClr val="EAF1F9"/>
                    </a:solidFill>
                  </a:tcPr>
                </a:tc>
                <a:extLst>
                  <a:ext uri="{0D108BD9-81ED-4DB2-BD59-A6C34878D82A}">
                    <a16:rowId xmlns:a16="http://schemas.microsoft.com/office/drawing/2014/main" val="10006"/>
                  </a:ext>
                </a:extLst>
              </a:tr>
            </a:tbl>
          </a:graphicData>
        </a:graphic>
      </p:graphicFrame>
      <p:sp>
        <p:nvSpPr>
          <p:cNvPr id="28" name="TextBox 27"/>
          <p:cNvSpPr txBox="1"/>
          <p:nvPr/>
        </p:nvSpPr>
        <p:spPr>
          <a:xfrm>
            <a:off x="7315200" y="2651760"/>
            <a:ext cx="429768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FROM THE REPORT</a:t>
            </a:r>
          </a:p>
        </p:txBody>
      </p:sp>
      <p:sp>
        <p:nvSpPr>
          <p:cNvPr id="30" name="TextBox 29"/>
          <p:cNvSpPr txBox="1"/>
          <p:nvPr/>
        </p:nvSpPr>
        <p:spPr>
          <a:xfrm>
            <a:off x="548640" y="5623560"/>
            <a:ext cx="11091672" cy="54864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050" b="0" i="1">
                <a:solidFill>
                  <a:srgbClr val="6B7785"/>
                </a:solidFill>
                <a:latin typeface="Arial"/>
              </a:rPr>
              <a:t>Read: no single measure separates the two groups on its own. The real signal sits in the group rates on the next slide, where login recency runs from 17.1% among active customers to 75.0% among dormant ones.</a:t>
            </a:r>
          </a:p>
        </p:txBody>
      </p:sp>
      <p:pic>
        <p:nvPicPr>
          <p:cNvPr id="7" name="Picture 6">
            <a:extLst>
              <a:ext uri="{FF2B5EF4-FFF2-40B4-BE49-F238E27FC236}">
                <a16:creationId xmlns:a16="http://schemas.microsoft.com/office/drawing/2014/main" id="{14C431AF-B429-5298-9429-0E58C7482DA8}"/>
              </a:ext>
            </a:extLst>
          </p:cNvPr>
          <p:cNvPicPr>
            <a:picLocks noChangeAspect="1"/>
          </p:cNvPicPr>
          <p:nvPr/>
        </p:nvPicPr>
        <p:blipFill>
          <a:blip r:embed="rId3"/>
          <a:stretch>
            <a:fillRect/>
          </a:stretch>
        </p:blipFill>
        <p:spPr>
          <a:xfrm>
            <a:off x="7315200" y="2872693"/>
            <a:ext cx="4084639" cy="27280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Visual Analysis</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Three charts, three actions, and a ranked list of what actually drives churn.</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9 / 12</a:t>
            </a:r>
            <a:endParaRPr lang="en-US" sz="900" dirty="0"/>
          </a:p>
        </p:txBody>
      </p:sp>
      <p:pic>
        <p:nvPicPr>
          <p:cNvPr id="14" name="Picture 13" descr="img_login.png"/>
          <p:cNvPicPr>
            <a:picLocks noChangeAspect="1"/>
          </p:cNvPicPr>
          <p:nvPr/>
        </p:nvPicPr>
        <p:blipFill>
          <a:blip r:embed="rId3"/>
          <a:stretch>
            <a:fillRect/>
          </a:stretch>
        </p:blipFill>
        <p:spPr>
          <a:xfrm>
            <a:off x="548640" y="1737360"/>
            <a:ext cx="2514600" cy="1569622"/>
          </a:xfrm>
          <a:prstGeom prst="rect">
            <a:avLst/>
          </a:prstGeom>
        </p:spPr>
      </p:pic>
      <p:sp>
        <p:nvSpPr>
          <p:cNvPr id="15" name="TextBox 14"/>
          <p:cNvSpPr txBox="1"/>
          <p:nvPr/>
        </p:nvSpPr>
        <p:spPr>
          <a:xfrm>
            <a:off x="548640" y="3474720"/>
            <a:ext cx="2514600" cy="2651760"/>
          </a:xfrm>
          <a:prstGeom prst="rect">
            <a:avLst/>
          </a:prstGeom>
          <a:noFill/>
        </p:spPr>
        <p:txBody>
          <a:bodyPr wrap="square" lIns="0" tIns="0" rIns="0" bIns="0" anchor="t">
            <a:spAutoFit/>
          </a:bodyPr>
          <a:lstStyle/>
          <a:p>
            <a:pPr marL="0" indent="0" algn="l">
              <a:lnSpc>
                <a:spcPct val="108000"/>
              </a:lnSpc>
              <a:spcBef>
                <a:spcPts val="0"/>
              </a:spcBef>
              <a:spcAft>
                <a:spcPts val="300"/>
              </a:spcAft>
              <a:buNone/>
            </a:pPr>
            <a:r>
              <a:rPr sz="1000" b="1" i="0">
                <a:solidFill>
                  <a:srgbClr val="1F4E78"/>
                </a:solidFill>
                <a:latin typeface="Arial"/>
              </a:rPr>
              <a:t>Churn rate by login recency</a:t>
            </a:r>
          </a:p>
          <a:p>
            <a:pPr marL="0" indent="0" algn="l">
              <a:lnSpc>
                <a:spcPct val="115000"/>
              </a:lnSpc>
              <a:spcBef>
                <a:spcPts val="0"/>
              </a:spcBef>
              <a:spcAft>
                <a:spcPts val="300"/>
              </a:spcAft>
              <a:buNone/>
            </a:pPr>
            <a:r>
              <a:rPr sz="900" b="0" i="0">
                <a:solidFill>
                  <a:srgbClr val="6B7785"/>
                </a:solidFill>
                <a:latin typeface="Arial"/>
              </a:rPr>
              <a:t>Active 17.1%, Recent 22.2%, Inactive 37.7%, Dormant 75.0%.</a:t>
            </a:r>
          </a:p>
          <a:p>
            <a:pPr marL="0" indent="0" algn="l">
              <a:lnSpc>
                <a:spcPct val="115000"/>
              </a:lnSpc>
              <a:spcBef>
                <a:spcPts val="0"/>
              </a:spcBef>
              <a:spcAft>
                <a:spcPts val="0"/>
              </a:spcAft>
              <a:buNone/>
            </a:pPr>
            <a:r>
              <a:rPr sz="900" b="1" i="0">
                <a:solidFill>
                  <a:srgbClr val="2A8C82"/>
                </a:solidFill>
                <a:latin typeface="Arial"/>
              </a:rPr>
              <a:t>ACT:  win the customer back before they turn Inactive, where the rate jumps from 22.2% to 37.7%.</a:t>
            </a:r>
          </a:p>
        </p:txBody>
      </p:sp>
      <p:pic>
        <p:nvPicPr>
          <p:cNvPr id="16" name="Picture 15" descr="img_contract.png"/>
          <p:cNvPicPr>
            <a:picLocks noChangeAspect="1"/>
          </p:cNvPicPr>
          <p:nvPr/>
        </p:nvPicPr>
        <p:blipFill>
          <a:blip r:embed="rId4"/>
          <a:stretch>
            <a:fillRect/>
          </a:stretch>
        </p:blipFill>
        <p:spPr>
          <a:xfrm>
            <a:off x="3246120" y="1737360"/>
            <a:ext cx="2514600" cy="1577101"/>
          </a:xfrm>
          <a:prstGeom prst="rect">
            <a:avLst/>
          </a:prstGeom>
        </p:spPr>
      </p:pic>
      <p:sp>
        <p:nvSpPr>
          <p:cNvPr id="17" name="TextBox 16"/>
          <p:cNvSpPr txBox="1"/>
          <p:nvPr/>
        </p:nvSpPr>
        <p:spPr>
          <a:xfrm>
            <a:off x="3246120" y="3474720"/>
            <a:ext cx="2514600" cy="2651760"/>
          </a:xfrm>
          <a:prstGeom prst="rect">
            <a:avLst/>
          </a:prstGeom>
          <a:noFill/>
        </p:spPr>
        <p:txBody>
          <a:bodyPr wrap="square" lIns="0" tIns="0" rIns="0" bIns="0" anchor="t">
            <a:spAutoFit/>
          </a:bodyPr>
          <a:lstStyle/>
          <a:p>
            <a:pPr marL="0" indent="0" algn="l">
              <a:lnSpc>
                <a:spcPct val="108000"/>
              </a:lnSpc>
              <a:spcBef>
                <a:spcPts val="0"/>
              </a:spcBef>
              <a:spcAft>
                <a:spcPts val="300"/>
              </a:spcAft>
              <a:buNone/>
            </a:pPr>
            <a:r>
              <a:rPr sz="1000" b="1" i="0">
                <a:solidFill>
                  <a:srgbClr val="1F4E78"/>
                </a:solidFill>
                <a:latin typeface="Arial"/>
              </a:rPr>
              <a:t>Churn rate by contract type</a:t>
            </a:r>
          </a:p>
          <a:p>
            <a:pPr marL="0" indent="0" algn="l">
              <a:lnSpc>
                <a:spcPct val="115000"/>
              </a:lnSpc>
              <a:spcBef>
                <a:spcPts val="0"/>
              </a:spcBef>
              <a:spcAft>
                <a:spcPts val="300"/>
              </a:spcAft>
              <a:buNone/>
            </a:pPr>
            <a:r>
              <a:rPr sz="900" b="0" i="0">
                <a:solidFill>
                  <a:srgbClr val="6B7785"/>
                </a:solidFill>
                <a:latin typeface="Arial"/>
              </a:rPr>
              <a:t>Monthly 29.9% vs Annual 12.8%, across 1,297 monthly customers.</a:t>
            </a:r>
          </a:p>
          <a:p>
            <a:pPr marL="0" indent="0" algn="l">
              <a:lnSpc>
                <a:spcPct val="115000"/>
              </a:lnSpc>
              <a:spcBef>
                <a:spcPts val="0"/>
              </a:spcBef>
              <a:spcAft>
                <a:spcPts val="0"/>
              </a:spcAft>
              <a:buNone/>
            </a:pPr>
            <a:r>
              <a:rPr sz="900" b="1" i="0">
                <a:solidFill>
                  <a:srgbClr val="2A8C82"/>
                </a:solidFill>
                <a:latin typeface="Arial"/>
              </a:rPr>
              <a:t>ACT:  fund up to two months of discount to move monthly customers onto annual terms at renewal.</a:t>
            </a:r>
          </a:p>
        </p:txBody>
      </p:sp>
      <p:pic>
        <p:nvPicPr>
          <p:cNvPr id="18" name="Picture 17" descr="img_usage.png"/>
          <p:cNvPicPr>
            <a:picLocks noChangeAspect="1"/>
          </p:cNvPicPr>
          <p:nvPr/>
        </p:nvPicPr>
        <p:blipFill>
          <a:blip r:embed="rId5"/>
          <a:stretch>
            <a:fillRect/>
          </a:stretch>
        </p:blipFill>
        <p:spPr>
          <a:xfrm>
            <a:off x="5943600" y="1737360"/>
            <a:ext cx="2514600" cy="1530970"/>
          </a:xfrm>
          <a:prstGeom prst="rect">
            <a:avLst/>
          </a:prstGeom>
        </p:spPr>
      </p:pic>
      <p:sp>
        <p:nvSpPr>
          <p:cNvPr id="19" name="TextBox 18"/>
          <p:cNvSpPr txBox="1"/>
          <p:nvPr/>
        </p:nvSpPr>
        <p:spPr>
          <a:xfrm>
            <a:off x="5943600" y="3474720"/>
            <a:ext cx="2514600" cy="2651760"/>
          </a:xfrm>
          <a:prstGeom prst="rect">
            <a:avLst/>
          </a:prstGeom>
          <a:noFill/>
        </p:spPr>
        <p:txBody>
          <a:bodyPr wrap="square" lIns="0" tIns="0" rIns="0" bIns="0" anchor="t">
            <a:spAutoFit/>
          </a:bodyPr>
          <a:lstStyle/>
          <a:p>
            <a:pPr marL="0" indent="0" algn="l">
              <a:lnSpc>
                <a:spcPct val="108000"/>
              </a:lnSpc>
              <a:spcBef>
                <a:spcPts val="0"/>
              </a:spcBef>
              <a:spcAft>
                <a:spcPts val="300"/>
              </a:spcAft>
              <a:buNone/>
            </a:pPr>
            <a:r>
              <a:rPr sz="1000" b="1" i="0">
                <a:solidFill>
                  <a:srgbClr val="1F4E78"/>
                </a:solidFill>
                <a:latin typeface="Arial"/>
              </a:rPr>
              <a:t>Churn rate by usage band</a:t>
            </a:r>
          </a:p>
          <a:p>
            <a:pPr marL="0" indent="0" algn="l">
              <a:lnSpc>
                <a:spcPct val="115000"/>
              </a:lnSpc>
              <a:spcBef>
                <a:spcPts val="0"/>
              </a:spcBef>
              <a:spcAft>
                <a:spcPts val="300"/>
              </a:spcAft>
              <a:buNone/>
            </a:pPr>
            <a:r>
              <a:rPr sz="900" b="0" i="0">
                <a:solidFill>
                  <a:srgbClr val="6B7785"/>
                </a:solidFill>
                <a:latin typeface="Arial"/>
              </a:rPr>
              <a:t>Under 10 hours a month 33.6% vs 30+ hours 20.3%.</a:t>
            </a:r>
          </a:p>
          <a:p>
            <a:pPr marL="0" indent="0" algn="l">
              <a:lnSpc>
                <a:spcPct val="115000"/>
              </a:lnSpc>
              <a:spcBef>
                <a:spcPts val="0"/>
              </a:spcBef>
              <a:spcAft>
                <a:spcPts val="0"/>
              </a:spcAft>
              <a:buNone/>
            </a:pPr>
            <a:r>
              <a:rPr sz="900" b="1" i="0">
                <a:solidFill>
                  <a:srgbClr val="2A8C82"/>
                </a:solidFill>
                <a:latin typeface="Arial"/>
              </a:rPr>
              <a:t>ACT:  onboard Basic customers onto usage in the first 90 days, not onto feature tours.</a:t>
            </a:r>
          </a:p>
        </p:txBody>
      </p:sp>
      <p:sp>
        <p:nvSpPr>
          <p:cNvPr id="20" name="Rounded Rectangle 19"/>
          <p:cNvSpPr/>
          <p:nvPr/>
        </p:nvSpPr>
        <p:spPr>
          <a:xfrm>
            <a:off x="548640" y="4983480"/>
            <a:ext cx="7909560" cy="868680"/>
          </a:xfrm>
          <a:prstGeom prst="roundRect">
            <a:avLst>
              <a:gd name="adj" fmla="val 4000"/>
            </a:avLst>
          </a:prstGeom>
          <a:solidFill>
            <a:srgbClr val="1F4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5102352"/>
            <a:ext cx="7315200" cy="640080"/>
          </a:xfrm>
          <a:prstGeom prst="rect">
            <a:avLst/>
          </a:prstGeom>
          <a:noFill/>
        </p:spPr>
        <p:txBody>
          <a:bodyPr wrap="square" lIns="0" tIns="0" rIns="0" bIns="0" anchor="ctr">
            <a:spAutoFit/>
          </a:bodyPr>
          <a:lstStyle/>
          <a:p>
            <a:pPr marL="0" indent="0" algn="l">
              <a:lnSpc>
                <a:spcPct val="118000"/>
              </a:lnSpc>
              <a:spcBef>
                <a:spcPts val="0"/>
              </a:spcBef>
              <a:spcAft>
                <a:spcPts val="0"/>
              </a:spcAft>
              <a:buNone/>
            </a:pPr>
            <a:r>
              <a:rPr sz="1050" b="0" i="0">
                <a:solidFill>
                  <a:srgbClr val="FFFFFF"/>
                </a:solidFill>
                <a:latin typeface="Arial"/>
              </a:rPr>
              <a:t>Read together: churn tracks engagement and commitment, not price or demographics. The levers are reaching a customer before they go dormant, moving them onto annual terms, and building usage early.</a:t>
            </a:r>
          </a:p>
        </p:txBody>
      </p:sp>
      <p:sp>
        <p:nvSpPr>
          <p:cNvPr id="22" name="TextBox 21"/>
          <p:cNvSpPr txBox="1"/>
          <p:nvPr/>
        </p:nvSpPr>
        <p:spPr>
          <a:xfrm>
            <a:off x="8778240" y="1417320"/>
            <a:ext cx="2862072"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KEY INFLUENCERS</a:t>
            </a:r>
          </a:p>
        </p:txBody>
      </p:sp>
      <p:pic>
        <p:nvPicPr>
          <p:cNvPr id="23" name="Picture 22" descr="img_ki.png"/>
          <p:cNvPicPr>
            <a:picLocks noChangeAspect="1"/>
          </p:cNvPicPr>
          <p:nvPr/>
        </p:nvPicPr>
        <p:blipFill>
          <a:blip r:embed="rId6"/>
          <a:stretch>
            <a:fillRect/>
          </a:stretch>
        </p:blipFill>
        <p:spPr>
          <a:xfrm>
            <a:off x="9034333" y="1691640"/>
            <a:ext cx="2349885" cy="3977639"/>
          </a:xfrm>
          <a:prstGeom prst="rect">
            <a:avLst/>
          </a:prstGeom>
        </p:spPr>
      </p:pic>
      <p:sp>
        <p:nvSpPr>
          <p:cNvPr id="24" name="TextBox 23"/>
          <p:cNvSpPr txBox="1"/>
          <p:nvPr/>
        </p:nvSpPr>
        <p:spPr>
          <a:xfrm>
            <a:off x="8778240" y="5742432"/>
            <a:ext cx="2862072" cy="822960"/>
          </a:xfrm>
          <a:prstGeom prst="rect">
            <a:avLst/>
          </a:prstGeom>
          <a:noFill/>
        </p:spPr>
        <p:txBody>
          <a:bodyPr wrap="square" lIns="0" tIns="0" rIns="0" bIns="0" anchor="t">
            <a:spAutoFit/>
          </a:bodyPr>
          <a:lstStyle/>
          <a:p>
            <a:pPr marL="0" indent="0" algn="l">
              <a:lnSpc>
                <a:spcPct val="108000"/>
              </a:lnSpc>
              <a:spcBef>
                <a:spcPts val="0"/>
              </a:spcBef>
              <a:spcAft>
                <a:spcPts val="300"/>
              </a:spcAft>
              <a:buNone/>
            </a:pPr>
            <a:r>
              <a:rPr sz="1000" b="1" i="0">
                <a:solidFill>
                  <a:srgbClr val="1F4E78"/>
                </a:solidFill>
                <a:latin typeface="Arial"/>
              </a:rPr>
              <a:t>Ranked drivers, each adjusted for the others.</a:t>
            </a:r>
          </a:p>
          <a:p>
            <a:pPr marL="0" indent="0" algn="l">
              <a:lnSpc>
                <a:spcPct val="115000"/>
              </a:lnSpc>
              <a:spcBef>
                <a:spcPts val="0"/>
              </a:spcBef>
              <a:spcAft>
                <a:spcPts val="0"/>
              </a:spcAft>
              <a:buNone/>
            </a:pPr>
            <a:r>
              <a:rPr sz="900" b="0" i="0">
                <a:solidFill>
                  <a:srgbClr val="6B7785"/>
                </a:solidFill>
                <a:latin typeface="Arial"/>
              </a:rPr>
              <a:t>Region, age, gender, payment method and support tickets do not appear at 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Insights &amp; Findings</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The five questions from slide 2, answered in order.</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10 / 12</a:t>
            </a:r>
            <a:endParaRPr lang="en-US" sz="900" dirty="0"/>
          </a:p>
        </p:txBody>
      </p:sp>
      <p:graphicFrame>
        <p:nvGraphicFramePr>
          <p:cNvPr id="14" name="Table 13"/>
          <p:cNvGraphicFramePr>
            <a:graphicFrameLocks noGrp="1"/>
          </p:cNvGraphicFramePr>
          <p:nvPr/>
        </p:nvGraphicFramePr>
        <p:xfrm>
          <a:off x="548640" y="1627632"/>
          <a:ext cx="11091672" cy="3020124"/>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8805672">
                  <a:extLst>
                    <a:ext uri="{9D8B030D-6E8A-4147-A177-3AD203B41FA5}">
                      <a16:colId xmlns:a16="http://schemas.microsoft.com/office/drawing/2014/main" val="20001"/>
                    </a:ext>
                  </a:extLst>
                </a:gridCol>
              </a:tblGrid>
              <a:tr h="274320">
                <a:tc>
                  <a:txBody>
                    <a:bodyPr/>
                    <a:lstStyle/>
                    <a:p>
                      <a:pPr>
                        <a:lnSpc>
                          <a:spcPct val="105000"/>
                        </a:lnSpc>
                        <a:spcAft>
                          <a:spcPts val="0"/>
                        </a:spcAft>
                      </a:pPr>
                      <a:r>
                        <a:rPr sz="1000" b="1">
                          <a:solidFill>
                            <a:srgbClr val="FFFFFF"/>
                          </a:solidFill>
                          <a:latin typeface="Arial"/>
                        </a:rPr>
                        <a:t>Question</a:t>
                      </a:r>
                    </a:p>
                  </a:txBody>
                  <a:tcPr marL="82296" marR="82296" marT="41148" marB="41148" anchor="ctr">
                    <a:solidFill>
                      <a:srgbClr val="1F4E78"/>
                    </a:solidFill>
                  </a:tcPr>
                </a:tc>
                <a:tc>
                  <a:txBody>
                    <a:bodyPr/>
                    <a:lstStyle/>
                    <a:p>
                      <a:pPr>
                        <a:lnSpc>
                          <a:spcPct val="105000"/>
                        </a:lnSpc>
                        <a:spcAft>
                          <a:spcPts val="0"/>
                        </a:spcAft>
                      </a:pPr>
                      <a:r>
                        <a:rPr sz="1000" b="1">
                          <a:solidFill>
                            <a:srgbClr val="FFFFFF"/>
                          </a:solidFill>
                          <a:latin typeface="Arial"/>
                        </a:rPr>
                        <a:t>Answer from the data</a:t>
                      </a:r>
                    </a:p>
                  </a:txBody>
                  <a:tcPr marL="82296" marR="82296" marT="41148" marB="41148" anchor="ctr">
                    <a:solidFill>
                      <a:srgbClr val="1F4E78"/>
                    </a:solidFill>
                  </a:tcPr>
                </a:tc>
                <a:extLst>
                  <a:ext uri="{0D108BD9-81ED-4DB2-BD59-A6C34878D82A}">
                    <a16:rowId xmlns:a16="http://schemas.microsoft.com/office/drawing/2014/main" val="10000"/>
                  </a:ext>
                </a:extLst>
              </a:tr>
              <a:tr h="548640">
                <a:tc>
                  <a:txBody>
                    <a:bodyPr/>
                    <a:lstStyle/>
                    <a:p>
                      <a:pPr>
                        <a:lnSpc>
                          <a:spcPct val="105000"/>
                        </a:lnSpc>
                        <a:spcAft>
                          <a:spcPts val="0"/>
                        </a:spcAft>
                      </a:pPr>
                      <a:r>
                        <a:rPr sz="1000" b="1">
                          <a:solidFill>
                            <a:srgbClr val="1B2733"/>
                          </a:solidFill>
                          <a:latin typeface="Arial"/>
                        </a:rPr>
                        <a:t>1.  Overall churn rate</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23.9%: 478 of 2,000 customers have cancelled. Roughly one in four.</a:t>
                      </a:r>
                    </a:p>
                  </a:txBody>
                  <a:tcPr marL="82296" marR="82296" marT="41148" marB="41148" anchor="ctr">
                    <a:solidFill>
                      <a:srgbClr val="FFFFFF"/>
                    </a:solidFill>
                  </a:tcPr>
                </a:tc>
                <a:extLst>
                  <a:ext uri="{0D108BD9-81ED-4DB2-BD59-A6C34878D82A}">
                    <a16:rowId xmlns:a16="http://schemas.microsoft.com/office/drawing/2014/main" val="10001"/>
                  </a:ext>
                </a:extLst>
              </a:tr>
              <a:tr h="548640">
                <a:tc>
                  <a:txBody>
                    <a:bodyPr/>
                    <a:lstStyle/>
                    <a:p>
                      <a:pPr>
                        <a:lnSpc>
                          <a:spcPct val="105000"/>
                        </a:lnSpc>
                        <a:spcAft>
                          <a:spcPts val="0"/>
                        </a:spcAft>
                      </a:pPr>
                      <a:r>
                        <a:rPr sz="1000" b="1">
                          <a:solidFill>
                            <a:srgbClr val="1B2733"/>
                          </a:solidFill>
                          <a:latin typeface="Arial"/>
                        </a:rPr>
                        <a:t>2.  Contract type</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Yes, strongly. Monthly 29.9% vs Annual 12.8%, a 17-point gap and the single largest commercial difference in the model.</a:t>
                      </a:r>
                    </a:p>
                  </a:txBody>
                  <a:tcPr marL="82296" marR="82296" marT="41148" marB="41148" anchor="ctr">
                    <a:solidFill>
                      <a:srgbClr val="EAF1F9"/>
                    </a:solidFill>
                  </a:tcPr>
                </a:tc>
                <a:extLst>
                  <a:ext uri="{0D108BD9-81ED-4DB2-BD59-A6C34878D82A}">
                    <a16:rowId xmlns:a16="http://schemas.microsoft.com/office/drawing/2014/main" val="10002"/>
                  </a:ext>
                </a:extLst>
              </a:tr>
              <a:tr h="548640">
                <a:tc>
                  <a:txBody>
                    <a:bodyPr/>
                    <a:lstStyle/>
                    <a:p>
                      <a:pPr>
                        <a:lnSpc>
                          <a:spcPct val="105000"/>
                        </a:lnSpc>
                        <a:spcAft>
                          <a:spcPts val="0"/>
                        </a:spcAft>
                      </a:pPr>
                      <a:r>
                        <a:rPr sz="1000" b="1">
                          <a:solidFill>
                            <a:srgbClr val="1B2733"/>
                          </a:solidFill>
                          <a:latin typeface="Arial"/>
                        </a:rPr>
                        <a:t>3.  Auto-renew, plan, price</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Auto-renew: off 31.2% vs on 17.9%. Plan: Basic 29.1% → Standard 21.0% → Premium 17.4%. Price runs the "wrong" way, with the cheapest band churning most (29.2%), because price is a proxy for plan tier and commitment rather than a cause of leaving.</a:t>
                      </a:r>
                    </a:p>
                  </a:txBody>
                  <a:tcPr marL="82296" marR="82296" marT="41148" marB="41148" anchor="ctr">
                    <a:solidFill>
                      <a:srgbClr val="FFFFFF"/>
                    </a:solidFill>
                  </a:tcPr>
                </a:tc>
                <a:extLst>
                  <a:ext uri="{0D108BD9-81ED-4DB2-BD59-A6C34878D82A}">
                    <a16:rowId xmlns:a16="http://schemas.microsoft.com/office/drawing/2014/main" val="10003"/>
                  </a:ext>
                </a:extLst>
              </a:tr>
              <a:tr h="548640">
                <a:tc>
                  <a:txBody>
                    <a:bodyPr/>
                    <a:lstStyle/>
                    <a:p>
                      <a:pPr>
                        <a:lnSpc>
                          <a:spcPct val="105000"/>
                        </a:lnSpc>
                        <a:spcAft>
                          <a:spcPts val="0"/>
                        </a:spcAft>
                      </a:pPr>
                      <a:r>
                        <a:rPr sz="1000" b="1">
                          <a:solidFill>
                            <a:srgbClr val="1B2733"/>
                          </a:solidFill>
                          <a:latin typeface="Arial"/>
                        </a:rPr>
                        <a:t>4.  Engagement signals</a:t>
                      </a:r>
                    </a:p>
                  </a:txBody>
                  <a:tcPr marL="82296" marR="82296" marT="41148" marB="41148" anchor="ctr">
                    <a:solidFill>
                      <a:srgbClr val="EAF1F9"/>
                    </a:solidFill>
                  </a:tcPr>
                </a:tc>
                <a:tc>
                  <a:txBody>
                    <a:bodyPr/>
                    <a:lstStyle/>
                    <a:p>
                      <a:pPr>
                        <a:lnSpc>
                          <a:spcPct val="105000"/>
                        </a:lnSpc>
                        <a:spcAft>
                          <a:spcPts val="0"/>
                        </a:spcAft>
                      </a:pPr>
                      <a:r>
                        <a:rPr sz="1000" b="0">
                          <a:solidFill>
                            <a:srgbClr val="1B2733"/>
                          </a:solidFill>
                          <a:latin typeface="Arial"/>
                        </a:rPr>
                        <a:t>Login recency is by far the strongest: 17.1% Active, 22.2% Recent, 37.7% Inactive, 75.0% Dormant. Usage second: 33.6% under 10 hours vs 20.3% at 30+ hours. Tenure is mild (27.3% under six months, 18.1% past three years). Support tickets are effectively flat.</a:t>
                      </a:r>
                    </a:p>
                  </a:txBody>
                  <a:tcPr marL="82296" marR="82296" marT="41148" marB="41148" anchor="ctr">
                    <a:solidFill>
                      <a:srgbClr val="EAF1F9"/>
                    </a:solidFill>
                  </a:tcPr>
                </a:tc>
                <a:extLst>
                  <a:ext uri="{0D108BD9-81ED-4DB2-BD59-A6C34878D82A}">
                    <a16:rowId xmlns:a16="http://schemas.microsoft.com/office/drawing/2014/main" val="10004"/>
                  </a:ext>
                </a:extLst>
              </a:tr>
              <a:tr h="548640">
                <a:tc>
                  <a:txBody>
                    <a:bodyPr/>
                    <a:lstStyle/>
                    <a:p>
                      <a:pPr>
                        <a:lnSpc>
                          <a:spcPct val="105000"/>
                        </a:lnSpc>
                        <a:spcAft>
                          <a:spcPts val="0"/>
                        </a:spcAft>
                      </a:pPr>
                      <a:r>
                        <a:rPr sz="1000" b="1">
                          <a:solidFill>
                            <a:srgbClr val="1B2733"/>
                          </a:solidFill>
                          <a:latin typeface="Arial"/>
                        </a:rPr>
                        <a:t>5.  What matters, and what doesn’t</a:t>
                      </a:r>
                    </a:p>
                  </a:txBody>
                  <a:tcPr marL="82296" marR="82296" marT="41148" marB="41148" anchor="ctr">
                    <a:solidFill>
                      <a:srgbClr val="FFFFFF"/>
                    </a:solidFill>
                  </a:tcPr>
                </a:tc>
                <a:tc>
                  <a:txBody>
                    <a:bodyPr/>
                    <a:lstStyle/>
                    <a:p>
                      <a:pPr>
                        <a:lnSpc>
                          <a:spcPct val="105000"/>
                        </a:lnSpc>
                        <a:spcAft>
                          <a:spcPts val="0"/>
                        </a:spcAft>
                      </a:pPr>
                      <a:r>
                        <a:rPr sz="1000" b="0">
                          <a:solidFill>
                            <a:srgbClr val="1B2733"/>
                          </a:solidFill>
                          <a:latin typeface="Arial"/>
                        </a:rPr>
                        <a:t>Matters: login recency, usage, contract type, auto-renew, plan tier. Looks like it matters but doesn’t: support tickets (churned customers average 1.74 vs 1.61 for retained, and the eye-catching 45% at six tickets is eleven customers), age (42.6 vs 42.4 years), gender (24.4% vs 23.4%), region (21.9% to 25.0%) and payment method (23.1% to 24.2%).</a:t>
                      </a:r>
                    </a:p>
                  </a:txBody>
                  <a:tcPr marL="82296" marR="82296" marT="41148" marB="41148"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548640" y="4718304"/>
            <a:ext cx="676656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CONTRACT TYPE BY AUTO-RENEW, FROM THE REPORT</a:t>
            </a:r>
          </a:p>
        </p:txBody>
      </p:sp>
      <p:pic>
        <p:nvPicPr>
          <p:cNvPr id="16" name="Picture 15" descr="img_matrix.png"/>
          <p:cNvPicPr>
            <a:picLocks noChangeAspect="1"/>
          </p:cNvPicPr>
          <p:nvPr/>
        </p:nvPicPr>
        <p:blipFill>
          <a:blip r:embed="rId3"/>
          <a:stretch>
            <a:fillRect/>
          </a:stretch>
        </p:blipFill>
        <p:spPr>
          <a:xfrm>
            <a:off x="548640" y="4992624"/>
            <a:ext cx="6720840" cy="1157873"/>
          </a:xfrm>
          <a:prstGeom prst="rect">
            <a:avLst/>
          </a:prstGeom>
        </p:spPr>
      </p:pic>
      <p:sp>
        <p:nvSpPr>
          <p:cNvPr id="17" name="Rounded Rectangle 16"/>
          <p:cNvSpPr/>
          <p:nvPr/>
        </p:nvSpPr>
        <p:spPr>
          <a:xfrm>
            <a:off x="7543800" y="4718304"/>
            <a:ext cx="4096512" cy="1463040"/>
          </a:xfrm>
          <a:prstGeom prst="roundRect">
            <a:avLst>
              <a:gd name="adj" fmla="val 4000"/>
            </a:avLst>
          </a:prstGeom>
          <a:solidFill>
            <a:srgbClr val="1F4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4864608"/>
            <a:ext cx="3639312" cy="1188720"/>
          </a:xfrm>
          <a:prstGeom prst="rect">
            <a:avLst/>
          </a:prstGeom>
          <a:noFill/>
        </p:spPr>
        <p:txBody>
          <a:bodyPr wrap="square" lIns="0" tIns="0" rIns="0" bIns="0" anchor="t">
            <a:spAutoFit/>
          </a:bodyPr>
          <a:lstStyle/>
          <a:p>
            <a:pPr marL="0" indent="0" algn="l">
              <a:lnSpc>
                <a:spcPct val="110000"/>
              </a:lnSpc>
              <a:spcBef>
                <a:spcPts val="0"/>
              </a:spcBef>
              <a:spcAft>
                <a:spcPts val="300"/>
              </a:spcAft>
              <a:buNone/>
            </a:pPr>
            <a:r>
              <a:rPr sz="1100" b="1" i="0">
                <a:solidFill>
                  <a:srgbClr val="FFFFFF"/>
                </a:solidFill>
                <a:latin typeface="Arial"/>
              </a:rPr>
              <a:t>Two independent risks that stack.</a:t>
            </a:r>
          </a:p>
          <a:p>
            <a:pPr marL="0" indent="0" algn="l">
              <a:lnSpc>
                <a:spcPct val="118000"/>
              </a:lnSpc>
              <a:spcBef>
                <a:spcPts val="0"/>
              </a:spcBef>
              <a:spcAft>
                <a:spcPts val="0"/>
              </a:spcAft>
              <a:buNone/>
            </a:pPr>
            <a:r>
              <a:rPr sz="950" b="0" i="0">
                <a:solidFill>
                  <a:srgbClr val="D6E6F5"/>
                </a:solidFill>
                <a:latin typeface="Arial"/>
              </a:rPr>
              <a:t>Contract and auto-renew act separately and their effects add. Carrying both: 38.5% on 582 customers. Carrying neither: 8.7% on 389. Either lever moves the number on its own.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Recommendations</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Four actions, ranked by leverage rather than by ease.</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11 / 12</a:t>
            </a:r>
            <a:endParaRPr lang="en-US" sz="900" dirty="0"/>
          </a:p>
        </p:txBody>
      </p:sp>
      <p:graphicFrame>
        <p:nvGraphicFramePr>
          <p:cNvPr id="14" name="Table 13"/>
          <p:cNvGraphicFramePr>
            <a:graphicFrameLocks noGrp="1"/>
          </p:cNvGraphicFramePr>
          <p:nvPr/>
        </p:nvGraphicFramePr>
        <p:xfrm>
          <a:off x="548640" y="1627632"/>
          <a:ext cx="11091672" cy="4005072"/>
        </p:xfrm>
        <a:graphic>
          <a:graphicData uri="http://schemas.openxmlformats.org/drawingml/2006/table">
            <a:tbl>
              <a:tblPr>
                <a:tableStyleId>{5C22544A-7EE6-4342-B048-85BDC9FD1C3A}</a:tableStyleId>
              </a:tblPr>
              <a:tblGrid>
                <a:gridCol w="2834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tblGrid>
              <a:tr h="274320">
                <a:tc>
                  <a:txBody>
                    <a:bodyPr/>
                    <a:lstStyle/>
                    <a:p>
                      <a:pPr>
                        <a:lnSpc>
                          <a:spcPct val="105000"/>
                        </a:lnSpc>
                        <a:spcAft>
                          <a:spcPts val="0"/>
                        </a:spcAft>
                      </a:pPr>
                      <a:r>
                        <a:rPr sz="980" b="1">
                          <a:solidFill>
                            <a:srgbClr val="FFFFFF"/>
                          </a:solidFill>
                          <a:latin typeface="Arial"/>
                        </a:rPr>
                        <a:t>Action</a:t>
                      </a:r>
                    </a:p>
                  </a:txBody>
                  <a:tcPr marL="82296" marR="82296" marT="41148" marB="41148" anchor="ctr">
                    <a:solidFill>
                      <a:srgbClr val="1F4E78"/>
                    </a:solidFill>
                  </a:tcPr>
                </a:tc>
                <a:tc>
                  <a:txBody>
                    <a:bodyPr/>
                    <a:lstStyle/>
                    <a:p>
                      <a:pPr>
                        <a:lnSpc>
                          <a:spcPct val="105000"/>
                        </a:lnSpc>
                        <a:spcAft>
                          <a:spcPts val="0"/>
                        </a:spcAft>
                      </a:pPr>
                      <a:r>
                        <a:rPr sz="980" b="1">
                          <a:solidFill>
                            <a:srgbClr val="FFFFFF"/>
                          </a:solidFill>
                          <a:latin typeface="Arial"/>
                        </a:rPr>
                        <a:t>Evidence behind it</a:t>
                      </a:r>
                    </a:p>
                  </a:txBody>
                  <a:tcPr marL="82296" marR="82296" marT="41148" marB="41148" anchor="ctr">
                    <a:solidFill>
                      <a:srgbClr val="1F4E78"/>
                    </a:solidFill>
                  </a:tcPr>
                </a:tc>
                <a:tc>
                  <a:txBody>
                    <a:bodyPr/>
                    <a:lstStyle/>
                    <a:p>
                      <a:pPr>
                        <a:lnSpc>
                          <a:spcPct val="105000"/>
                        </a:lnSpc>
                        <a:spcAft>
                          <a:spcPts val="0"/>
                        </a:spcAft>
                      </a:pPr>
                      <a:r>
                        <a:rPr sz="980" b="1">
                          <a:solidFill>
                            <a:srgbClr val="FFFFFF"/>
                          </a:solidFill>
                          <a:latin typeface="Arial"/>
                        </a:rPr>
                        <a:t>Expected impact</a:t>
                      </a:r>
                    </a:p>
                  </a:txBody>
                  <a:tcPr marL="82296" marR="82296" marT="41148" marB="41148" anchor="ctr">
                    <a:solidFill>
                      <a:srgbClr val="1F4E78"/>
                    </a:solidFill>
                  </a:tcPr>
                </a:tc>
                <a:tc>
                  <a:txBody>
                    <a:bodyPr/>
                    <a:lstStyle/>
                    <a:p>
                      <a:pPr>
                        <a:lnSpc>
                          <a:spcPct val="105000"/>
                        </a:lnSpc>
                        <a:spcAft>
                          <a:spcPts val="0"/>
                        </a:spcAft>
                      </a:pPr>
                      <a:r>
                        <a:rPr sz="980" b="1">
                          <a:solidFill>
                            <a:srgbClr val="FFFFFF"/>
                          </a:solidFill>
                          <a:latin typeface="Arial"/>
                        </a:rPr>
                        <a:t>How to measure it</a:t>
                      </a:r>
                    </a:p>
                  </a:txBody>
                  <a:tcPr marL="82296" marR="82296" marT="41148" marB="41148" anchor="ctr">
                    <a:solidFill>
                      <a:srgbClr val="1F4E78"/>
                    </a:solidFill>
                  </a:tcPr>
                </a:tc>
                <a:extLst>
                  <a:ext uri="{0D108BD9-81ED-4DB2-BD59-A6C34878D82A}">
                    <a16:rowId xmlns:a16="http://schemas.microsoft.com/office/drawing/2014/main" val="10000"/>
                  </a:ext>
                </a:extLst>
              </a:tr>
              <a:tr h="932688">
                <a:tc>
                  <a:txBody>
                    <a:bodyPr/>
                    <a:lstStyle/>
                    <a:p>
                      <a:pPr>
                        <a:lnSpc>
                          <a:spcPct val="105000"/>
                        </a:lnSpc>
                        <a:spcAft>
                          <a:spcPts val="0"/>
                        </a:spcAft>
                      </a:pPr>
                      <a:r>
                        <a:rPr sz="980" b="1">
                          <a:solidFill>
                            <a:srgbClr val="1B2733"/>
                          </a:solidFill>
                          <a:latin typeface="Arial"/>
                        </a:rPr>
                        <a:t>1.  Default auto-renew to on, with an opt-out and a clear reminder before each charge</a:t>
                      </a:r>
                    </a:p>
                  </a:txBody>
                  <a:tcPr marL="82296" marR="82296" marT="41148" marB="41148" anchor="ctr">
                    <a:solidFill>
                      <a:srgbClr val="FFFFFF"/>
                    </a:solidFill>
                  </a:tcPr>
                </a:tc>
                <a:tc>
                  <a:txBody>
                    <a:bodyPr/>
                    <a:lstStyle/>
                    <a:p>
                      <a:pPr>
                        <a:lnSpc>
                          <a:spcPct val="105000"/>
                        </a:lnSpc>
                        <a:spcAft>
                          <a:spcPts val="0"/>
                        </a:spcAft>
                      </a:pPr>
                      <a:r>
                        <a:rPr sz="980" b="0">
                          <a:solidFill>
                            <a:srgbClr val="1B2733"/>
                          </a:solidFill>
                          <a:latin typeface="Arial"/>
                        </a:rPr>
                        <a:t>Auto-renew off 31.2% vs on 17.9%. The worst cell in the model, monthly with auto-renew off, is 582 customers at 38.5%.</a:t>
                      </a:r>
                    </a:p>
                  </a:txBody>
                  <a:tcPr marL="82296" marR="82296" marT="41148" marB="41148" anchor="ctr">
                    <a:solidFill>
                      <a:srgbClr val="FFFFFF"/>
                    </a:solidFill>
                  </a:tcPr>
                </a:tc>
                <a:tc>
                  <a:txBody>
                    <a:bodyPr/>
                    <a:lstStyle/>
                    <a:p>
                      <a:pPr>
                        <a:lnSpc>
                          <a:spcPct val="105000"/>
                        </a:lnSpc>
                        <a:spcAft>
                          <a:spcPts val="0"/>
                        </a:spcAft>
                      </a:pPr>
                      <a:r>
                        <a:rPr sz="980" b="0">
                          <a:solidFill>
                            <a:srgbClr val="1B2733"/>
                          </a:solidFill>
                          <a:latin typeface="Arial"/>
                        </a:rPr>
                        <a:t>Largest single lever. Halving the gap on that cell alone is roughly 35 customers a year retained.</a:t>
                      </a:r>
                    </a:p>
                  </a:txBody>
                  <a:tcPr marL="82296" marR="82296" marT="41148" marB="41148" anchor="ctr">
                    <a:solidFill>
                      <a:srgbClr val="FFFFFF"/>
                    </a:solidFill>
                  </a:tcPr>
                </a:tc>
                <a:tc>
                  <a:txBody>
                    <a:bodyPr/>
                    <a:lstStyle/>
                    <a:p>
                      <a:pPr>
                        <a:lnSpc>
                          <a:spcPct val="105000"/>
                        </a:lnSpc>
                        <a:spcAft>
                          <a:spcPts val="0"/>
                        </a:spcAft>
                      </a:pPr>
                      <a:r>
                        <a:rPr sz="980" b="0">
                          <a:solidFill>
                            <a:srgbClr val="1B2733"/>
                          </a:solidFill>
                          <a:latin typeface="Arial"/>
                        </a:rPr>
                        <a:t>Auto-renew adoption rate; churn of the monthly / off cohort, month on month.</a:t>
                      </a:r>
                    </a:p>
                  </a:txBody>
                  <a:tcPr marL="82296" marR="82296" marT="41148" marB="41148" anchor="ctr">
                    <a:solidFill>
                      <a:srgbClr val="FFFFFF"/>
                    </a:solidFill>
                  </a:tcPr>
                </a:tc>
                <a:extLst>
                  <a:ext uri="{0D108BD9-81ED-4DB2-BD59-A6C34878D82A}">
                    <a16:rowId xmlns:a16="http://schemas.microsoft.com/office/drawing/2014/main" val="10001"/>
                  </a:ext>
                </a:extLst>
              </a:tr>
              <a:tr h="932688">
                <a:tc>
                  <a:txBody>
                    <a:bodyPr/>
                    <a:lstStyle/>
                    <a:p>
                      <a:pPr>
                        <a:lnSpc>
                          <a:spcPct val="105000"/>
                        </a:lnSpc>
                        <a:spcAft>
                          <a:spcPts val="0"/>
                        </a:spcAft>
                      </a:pPr>
                      <a:r>
                        <a:rPr sz="980" b="1">
                          <a:solidFill>
                            <a:srgbClr val="1B2733"/>
                          </a:solidFill>
                          <a:latin typeface="Arial"/>
                        </a:rPr>
                        <a:t>2.  Trigger a win-back before a customer tips into the Inactive band</a:t>
                      </a:r>
                    </a:p>
                  </a:txBody>
                  <a:tcPr marL="82296" marR="82296" marT="41148" marB="41148" anchor="ctr">
                    <a:solidFill>
                      <a:srgbClr val="EAF1F9"/>
                    </a:solidFill>
                  </a:tcPr>
                </a:tc>
                <a:tc>
                  <a:txBody>
                    <a:bodyPr/>
                    <a:lstStyle/>
                    <a:p>
                      <a:pPr>
                        <a:lnSpc>
                          <a:spcPct val="105000"/>
                        </a:lnSpc>
                        <a:spcAft>
                          <a:spcPts val="0"/>
                        </a:spcAft>
                      </a:pPr>
                      <a:r>
                        <a:rPr sz="980" b="0">
                          <a:solidFill>
                            <a:srgbClr val="1B2733"/>
                          </a:solidFill>
                          <a:latin typeface="Arial"/>
                        </a:rPr>
                        <a:t>Churn runs 17.1% Active, 22.2% Recent, then jumps to 37.7% Inactive and 75.0% Dormant. The step change happens on the way into Inactive.</a:t>
                      </a:r>
                    </a:p>
                  </a:txBody>
                  <a:tcPr marL="82296" marR="82296" marT="41148" marB="41148" anchor="ctr">
                    <a:solidFill>
                      <a:srgbClr val="EAF1F9"/>
                    </a:solidFill>
                  </a:tcPr>
                </a:tc>
                <a:tc>
                  <a:txBody>
                    <a:bodyPr/>
                    <a:lstStyle/>
                    <a:p>
                      <a:pPr>
                        <a:lnSpc>
                          <a:spcPct val="105000"/>
                        </a:lnSpc>
                        <a:spcAft>
                          <a:spcPts val="0"/>
                        </a:spcAft>
                      </a:pPr>
                      <a:r>
                        <a:rPr sz="980" b="0">
                          <a:solidFill>
                            <a:srgbClr val="1B2733"/>
                          </a:solidFill>
                          <a:latin typeface="Arial"/>
                        </a:rPr>
                        <a:t>395 customers are Inactive or Dormant. Returning a fifth of them to active use is roughly 30 retained.</a:t>
                      </a:r>
                    </a:p>
                  </a:txBody>
                  <a:tcPr marL="82296" marR="82296" marT="41148" marB="41148" anchor="ctr">
                    <a:solidFill>
                      <a:srgbClr val="EAF1F9"/>
                    </a:solidFill>
                  </a:tcPr>
                </a:tc>
                <a:tc>
                  <a:txBody>
                    <a:bodyPr/>
                    <a:lstStyle/>
                    <a:p>
                      <a:pPr>
                        <a:lnSpc>
                          <a:spcPct val="105000"/>
                        </a:lnSpc>
                        <a:spcAft>
                          <a:spcPts val="0"/>
                        </a:spcAft>
                      </a:pPr>
                      <a:r>
                        <a:rPr sz="980" b="0">
                          <a:solidFill>
                            <a:srgbClr val="1B2733"/>
                          </a:solidFill>
                          <a:latin typeface="Arial"/>
                        </a:rPr>
                        <a:t>Churn rate of the Inactive and Dormant cohorts; share of base in each login band.</a:t>
                      </a:r>
                    </a:p>
                  </a:txBody>
                  <a:tcPr marL="82296" marR="82296" marT="41148" marB="41148" anchor="ctr">
                    <a:solidFill>
                      <a:srgbClr val="EAF1F9"/>
                    </a:solidFill>
                  </a:tcPr>
                </a:tc>
                <a:extLst>
                  <a:ext uri="{0D108BD9-81ED-4DB2-BD59-A6C34878D82A}">
                    <a16:rowId xmlns:a16="http://schemas.microsoft.com/office/drawing/2014/main" val="10002"/>
                  </a:ext>
                </a:extLst>
              </a:tr>
              <a:tr h="932688">
                <a:tc>
                  <a:txBody>
                    <a:bodyPr/>
                    <a:lstStyle/>
                    <a:p>
                      <a:pPr>
                        <a:lnSpc>
                          <a:spcPct val="105000"/>
                        </a:lnSpc>
                        <a:spcAft>
                          <a:spcPts val="0"/>
                        </a:spcAft>
                      </a:pPr>
                      <a:r>
                        <a:rPr sz="980" b="1">
                          <a:solidFill>
                            <a:srgbClr val="1B2733"/>
                          </a:solidFill>
                          <a:latin typeface="Arial"/>
                        </a:rPr>
                        <a:t>3.  Move monthly customers to annual at renewal, funding up to two months’ discount</a:t>
                      </a:r>
                    </a:p>
                  </a:txBody>
                  <a:tcPr marL="82296" marR="82296" marT="41148" marB="41148" anchor="ctr">
                    <a:solidFill>
                      <a:srgbClr val="FFFFFF"/>
                    </a:solidFill>
                  </a:tcPr>
                </a:tc>
                <a:tc>
                  <a:txBody>
                    <a:bodyPr/>
                    <a:lstStyle/>
                    <a:p>
                      <a:pPr>
                        <a:lnSpc>
                          <a:spcPct val="105000"/>
                        </a:lnSpc>
                        <a:spcAft>
                          <a:spcPts val="0"/>
                        </a:spcAft>
                      </a:pPr>
                      <a:r>
                        <a:rPr sz="980" b="0">
                          <a:solidFill>
                            <a:srgbClr val="1B2733"/>
                          </a:solidFill>
                          <a:latin typeface="Arial"/>
                        </a:rPr>
                        <a:t>Monthly 29.9% vs Annual 12.8%, on 1,297 monthly customers, 65% of the base.</a:t>
                      </a:r>
                    </a:p>
                  </a:txBody>
                  <a:tcPr marL="82296" marR="82296" marT="41148" marB="41148" anchor="ctr">
                    <a:solidFill>
                      <a:srgbClr val="FFFFFF"/>
                    </a:solidFill>
                  </a:tcPr>
                </a:tc>
                <a:tc>
                  <a:txBody>
                    <a:bodyPr/>
                    <a:lstStyle/>
                    <a:p>
                      <a:pPr>
                        <a:lnSpc>
                          <a:spcPct val="105000"/>
                        </a:lnSpc>
                        <a:spcAft>
                          <a:spcPts val="0"/>
                        </a:spcAft>
                      </a:pPr>
                      <a:r>
                        <a:rPr sz="980" b="0">
                          <a:solidFill>
                            <a:srgbClr val="1B2733"/>
                          </a:solidFill>
                          <a:latin typeface="Arial"/>
                        </a:rPr>
                        <a:t>Shifting 20% of monthly customers to annual terms implies ~45 fewer churns a year.</a:t>
                      </a:r>
                    </a:p>
                  </a:txBody>
                  <a:tcPr marL="82296" marR="82296" marT="41148" marB="41148" anchor="ctr">
                    <a:solidFill>
                      <a:srgbClr val="FFFFFF"/>
                    </a:solidFill>
                  </a:tcPr>
                </a:tc>
                <a:tc>
                  <a:txBody>
                    <a:bodyPr/>
                    <a:lstStyle/>
                    <a:p>
                      <a:pPr>
                        <a:lnSpc>
                          <a:spcPct val="105000"/>
                        </a:lnSpc>
                        <a:spcAft>
                          <a:spcPts val="0"/>
                        </a:spcAft>
                      </a:pPr>
                      <a:r>
                        <a:rPr sz="980" b="0">
                          <a:solidFill>
                            <a:srgbClr val="1B2733"/>
                          </a:solidFill>
                          <a:latin typeface="Arial"/>
                        </a:rPr>
                        <a:t>Share of base on annual terms; churn by contract type.</a:t>
                      </a:r>
                    </a:p>
                  </a:txBody>
                  <a:tcPr marL="82296" marR="82296" marT="41148" marB="41148" anchor="ctr">
                    <a:solidFill>
                      <a:srgbClr val="FFFFFF"/>
                    </a:solidFill>
                  </a:tcPr>
                </a:tc>
                <a:extLst>
                  <a:ext uri="{0D108BD9-81ED-4DB2-BD59-A6C34878D82A}">
                    <a16:rowId xmlns:a16="http://schemas.microsoft.com/office/drawing/2014/main" val="10003"/>
                  </a:ext>
                </a:extLst>
              </a:tr>
              <a:tr h="932688">
                <a:tc>
                  <a:txBody>
                    <a:bodyPr/>
                    <a:lstStyle/>
                    <a:p>
                      <a:pPr>
                        <a:lnSpc>
                          <a:spcPct val="105000"/>
                        </a:lnSpc>
                        <a:spcAft>
                          <a:spcPts val="0"/>
                        </a:spcAft>
                      </a:pPr>
                      <a:r>
                        <a:rPr sz="980" b="1">
                          <a:solidFill>
                            <a:srgbClr val="1B2733"/>
                          </a:solidFill>
                          <a:latin typeface="Arial"/>
                        </a:rPr>
                        <a:t>4.  Onboard Basic customers onto usage, not features, in the first 90 days</a:t>
                      </a:r>
                    </a:p>
                  </a:txBody>
                  <a:tcPr marL="82296" marR="82296" marT="41148" marB="41148" anchor="ctr">
                    <a:solidFill>
                      <a:srgbClr val="EAF1F9"/>
                    </a:solidFill>
                  </a:tcPr>
                </a:tc>
                <a:tc>
                  <a:txBody>
                    <a:bodyPr/>
                    <a:lstStyle/>
                    <a:p>
                      <a:pPr>
                        <a:lnSpc>
                          <a:spcPct val="105000"/>
                        </a:lnSpc>
                        <a:spcAft>
                          <a:spcPts val="0"/>
                        </a:spcAft>
                      </a:pPr>
                      <a:r>
                        <a:rPr sz="980" b="0">
                          <a:solidFill>
                            <a:srgbClr val="1B2733"/>
                          </a:solidFill>
                          <a:latin typeface="Arial"/>
                        </a:rPr>
                        <a:t>Basic 29.1% vs Premium 17.4%, and customers under 10 hours a month churn at 33.6% vs 20.3% at 30+ hours.</a:t>
                      </a:r>
                    </a:p>
                  </a:txBody>
                  <a:tcPr marL="82296" marR="82296" marT="41148" marB="41148" anchor="ctr">
                    <a:solidFill>
                      <a:srgbClr val="EAF1F9"/>
                    </a:solidFill>
                  </a:tcPr>
                </a:tc>
                <a:tc>
                  <a:txBody>
                    <a:bodyPr/>
                    <a:lstStyle/>
                    <a:p>
                      <a:pPr>
                        <a:lnSpc>
                          <a:spcPct val="105000"/>
                        </a:lnSpc>
                        <a:spcAft>
                          <a:spcPts val="0"/>
                        </a:spcAft>
                      </a:pPr>
                      <a:r>
                        <a:rPr sz="980" b="0">
                          <a:solidFill>
                            <a:srgbClr val="1B2733"/>
                          </a:solidFill>
                          <a:latin typeface="Arial"/>
                        </a:rPr>
                        <a:t>891 Basic customers. Early usage is the leading indicator every other action depends on.</a:t>
                      </a:r>
                    </a:p>
                  </a:txBody>
                  <a:tcPr marL="82296" marR="82296" marT="41148" marB="41148" anchor="ctr">
                    <a:solidFill>
                      <a:srgbClr val="EAF1F9"/>
                    </a:solidFill>
                  </a:tcPr>
                </a:tc>
                <a:tc>
                  <a:txBody>
                    <a:bodyPr/>
                    <a:lstStyle/>
                    <a:p>
                      <a:pPr>
                        <a:lnSpc>
                          <a:spcPct val="105000"/>
                        </a:lnSpc>
                        <a:spcAft>
                          <a:spcPts val="0"/>
                        </a:spcAft>
                      </a:pPr>
                      <a:r>
                        <a:rPr sz="980" b="0">
                          <a:solidFill>
                            <a:srgbClr val="1B2733"/>
                          </a:solidFill>
                          <a:latin typeface="Arial"/>
                        </a:rPr>
                        <a:t>Average usage hours at day 30 / 60 / 90 by signup cohort.</a:t>
                      </a:r>
                    </a:p>
                  </a:txBody>
                  <a:tcPr marL="82296" marR="82296" marT="41148" marB="41148" anchor="ctr">
                    <a:solidFill>
                      <a:srgbClr val="EAF1F9"/>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548640" y="5715000"/>
            <a:ext cx="11091672" cy="457200"/>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050" b="0" i="1">
                <a:solidFill>
                  <a:srgbClr val="6B7785"/>
                </a:solidFill>
                <a:latin typeface="Arial"/>
              </a:rPr>
              <a:t>Worth exploring further: whether low usage causes churn or simply marks a customer who has already decided. An A/B test on the 21-day nudge would separate the two, and it is cheap to run.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658368" cy="658368"/>
          </a:xfrm>
          <a:prstGeom prst="ellipse">
            <a:avLst/>
          </a:prstGeom>
          <a:solidFill>
            <a:srgbClr val="1F4E78"/>
          </a:solidFill>
          <a:ln/>
        </p:spPr>
        <p:txBody>
          <a:bodyPr/>
          <a:lstStyle/>
          <a:p>
            <a:endParaRPr/>
          </a:p>
        </p:txBody>
      </p:sp>
      <p:sp>
        <p:nvSpPr>
          <p:cNvPr id="3" name="Text 1"/>
          <p:cNvSpPr/>
          <p:nvPr/>
        </p:nvSpPr>
        <p:spPr>
          <a:xfrm>
            <a:off x="548640" y="502920"/>
            <a:ext cx="658368" cy="658368"/>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
        <p:nvSpPr>
          <p:cNvPr id="4" name="Text 2"/>
          <p:cNvSpPr/>
          <p:nvPr/>
        </p:nvSpPr>
        <p:spPr>
          <a:xfrm>
            <a:off x="1371600" y="457200"/>
            <a:ext cx="10241280" cy="502920"/>
          </a:xfrm>
          <a:prstGeom prst="rect">
            <a:avLst/>
          </a:prstGeom>
          <a:noFill/>
          <a:ln/>
        </p:spPr>
        <p:txBody>
          <a:bodyPr wrap="square" lIns="0" tIns="0" rIns="0" bIns="0" rtlCol="0" anchor="ctr"/>
          <a:lstStyle/>
          <a:p>
            <a:pPr marL="0" indent="0">
              <a:buNone/>
            </a:pPr>
            <a:r>
              <a:rPr lang="en-US" sz="2600" b="1" dirty="0">
                <a:solidFill>
                  <a:srgbClr val="1F4E78"/>
                </a:solidFill>
                <a:latin typeface="Arial" pitchFamily="34" charset="0"/>
                <a:ea typeface="Arial" pitchFamily="34" charset="-122"/>
                <a:cs typeface="Arial" pitchFamily="34" charset="-120"/>
              </a:rPr>
              <a:t>Limitations of the Analysis</a:t>
            </a:r>
            <a:endParaRPr lang="en-US" sz="2600" dirty="0"/>
          </a:p>
        </p:txBody>
      </p:sp>
      <p:sp>
        <p:nvSpPr>
          <p:cNvPr id="5" name="Text 3"/>
          <p:cNvSpPr/>
          <p:nvPr/>
        </p:nvSpPr>
        <p:spPr>
          <a:xfrm>
            <a:off x="1371600" y="987552"/>
            <a:ext cx="10241280" cy="320040"/>
          </a:xfrm>
          <a:prstGeom prst="rect">
            <a:avLst/>
          </a:prstGeom>
          <a:noFill/>
          <a:ln/>
        </p:spPr>
        <p:txBody>
          <a:bodyPr wrap="square" lIns="0" tIns="0" rIns="0" bIns="0" rtlCol="0" anchor="ctr"/>
          <a:lstStyle/>
          <a:p>
            <a:pPr marL="0" indent="0">
              <a:buNone/>
            </a:pPr>
            <a:r>
              <a:rPr lang="en-US" sz="1200" i="1" dirty="0">
                <a:solidFill>
                  <a:srgbClr val="6B7785"/>
                </a:solidFill>
                <a:latin typeface="Arial" pitchFamily="34" charset="0"/>
                <a:ea typeface="Arial" pitchFamily="34" charset="-122"/>
                <a:cs typeface="Arial" pitchFamily="34" charset="-120"/>
              </a:rPr>
              <a:t>What this analysis can claim, and what it cannot.</a:t>
            </a:r>
            <a:endParaRPr lang="en-US" sz="1200" dirty="0"/>
          </a:p>
        </p:txBody>
      </p:sp>
      <p:sp>
        <p:nvSpPr>
          <p:cNvPr id="11" name="Shape 9"/>
          <p:cNvSpPr/>
          <p:nvPr/>
        </p:nvSpPr>
        <p:spPr>
          <a:xfrm>
            <a:off x="548640" y="6400800"/>
            <a:ext cx="11091672" cy="0"/>
          </a:xfrm>
          <a:prstGeom prst="line">
            <a:avLst/>
          </a:prstGeom>
          <a:noFill/>
          <a:ln w="12700">
            <a:solidFill>
              <a:srgbClr val="C9D6E5"/>
            </a:solidFill>
            <a:prstDash val="solid"/>
          </a:ln>
        </p:spPr>
        <p:txBody>
          <a:bodyPr/>
          <a:lstStyle/>
          <a:p>
            <a:endParaRPr/>
          </a:p>
        </p:txBody>
      </p:sp>
      <p:sp>
        <p:nvSpPr>
          <p:cNvPr id="12" name="Text 10"/>
          <p:cNvSpPr/>
          <p:nvPr/>
        </p:nvSpPr>
        <p:spPr>
          <a:xfrm>
            <a:off x="548640" y="6446520"/>
            <a:ext cx="7315200" cy="274320"/>
          </a:xfrm>
          <a:prstGeom prst="rect">
            <a:avLst/>
          </a:prstGeom>
          <a:noFill/>
          <a:ln/>
        </p:spPr>
        <p:txBody>
          <a:bodyPr wrap="square" rtlCol="0" anchor="ctr"/>
          <a:lstStyle/>
          <a:p>
            <a:pPr marL="0" indent="0">
              <a:buNone/>
            </a:pPr>
            <a:r>
              <a:rPr lang="en-US" sz="900" dirty="0">
                <a:solidFill>
                  <a:srgbClr val="6B7785"/>
                </a:solidFill>
                <a:latin typeface="Arial" pitchFamily="34" charset="0"/>
                <a:ea typeface="Arial" pitchFamily="34" charset="-122"/>
                <a:cs typeface="Arial" pitchFamily="34" charset="-120"/>
              </a:rPr>
              <a:t>Power BI PL-300  ·  Capstone Project</a:t>
            </a:r>
            <a:endParaRPr lang="en-US" sz="900" dirty="0"/>
          </a:p>
        </p:txBody>
      </p:sp>
      <p:sp>
        <p:nvSpPr>
          <p:cNvPr id="13" name="Text 11"/>
          <p:cNvSpPr/>
          <p:nvPr/>
        </p:nvSpPr>
        <p:spPr>
          <a:xfrm>
            <a:off x="10698480" y="6446520"/>
            <a:ext cx="941832" cy="274320"/>
          </a:xfrm>
          <a:prstGeom prst="rect">
            <a:avLst/>
          </a:prstGeom>
          <a:noFill/>
          <a:ln/>
        </p:spPr>
        <p:txBody>
          <a:bodyPr wrap="square" rtlCol="0" anchor="ctr"/>
          <a:lstStyle/>
          <a:p>
            <a:pPr marL="0" indent="0" algn="r">
              <a:buNone/>
            </a:pPr>
            <a:r>
              <a:rPr lang="en-US" sz="900" dirty="0">
                <a:solidFill>
                  <a:srgbClr val="6B7785"/>
                </a:solidFill>
                <a:latin typeface="Arial" pitchFamily="34" charset="0"/>
                <a:ea typeface="Arial" pitchFamily="34" charset="-122"/>
                <a:cs typeface="Arial" pitchFamily="34" charset="-120"/>
              </a:rPr>
              <a:t>12 / 12</a:t>
            </a:r>
            <a:endParaRPr lang="en-US" sz="900" dirty="0"/>
          </a:p>
        </p:txBody>
      </p:sp>
      <p:sp>
        <p:nvSpPr>
          <p:cNvPr id="14" name="Rounded Rectangle 13"/>
          <p:cNvSpPr/>
          <p:nvPr/>
        </p:nvSpPr>
        <p:spPr>
          <a:xfrm>
            <a:off x="548640" y="1627632"/>
            <a:ext cx="5440680" cy="370332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1810512"/>
            <a:ext cx="493776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CONSTRAINTS I WORKED UNDER</a:t>
            </a:r>
          </a:p>
        </p:txBody>
      </p:sp>
      <p:sp>
        <p:nvSpPr>
          <p:cNvPr id="16" name="TextBox 15"/>
          <p:cNvSpPr txBox="1"/>
          <p:nvPr/>
        </p:nvSpPr>
        <p:spPr>
          <a:xfrm>
            <a:off x="822960" y="2212848"/>
            <a:ext cx="4937760" cy="3474720"/>
          </a:xfrm>
          <a:prstGeom prst="rect">
            <a:avLst/>
          </a:prstGeom>
          <a:noFill/>
        </p:spPr>
        <p:txBody>
          <a:bodyPr wrap="square" lIns="0" tIns="0" rIns="0" bIns="0" anchor="t">
            <a:spAutoFit/>
          </a:bodyPr>
          <a:lstStyle/>
          <a:p>
            <a:pPr marL="0" indent="0" algn="l">
              <a:lnSpc>
                <a:spcPct val="115000"/>
              </a:lnSpc>
              <a:spcBef>
                <a:spcPts val="0"/>
              </a:spcBef>
              <a:spcAft>
                <a:spcPts val="100"/>
              </a:spcAft>
              <a:buNone/>
            </a:pPr>
            <a:r>
              <a:rPr sz="1150" b="1" i="0">
                <a:solidFill>
                  <a:srgbClr val="1F4E78"/>
                </a:solidFill>
                <a:latin typeface="Arial"/>
              </a:rPr>
              <a:t>Synthetic data</a:t>
            </a:r>
          </a:p>
          <a:p>
            <a:pPr marL="0" indent="0" algn="l">
              <a:lnSpc>
                <a:spcPct val="115000"/>
              </a:lnSpc>
              <a:spcBef>
                <a:spcPts val="0"/>
              </a:spcBef>
              <a:spcAft>
                <a:spcPts val="0"/>
              </a:spcAft>
              <a:buNone/>
            </a:pPr>
            <a:r>
              <a:rPr sz="1050" b="0" i="0">
                <a:solidFill>
                  <a:srgbClr val="1B2733"/>
                </a:solidFill>
                <a:latin typeface="Arial"/>
              </a:rPr>
              <a:t>A teaching dataset, not NovaStream’s real book. The method transfers; the effect sizes do not.</a:t>
            </a:r>
          </a:p>
          <a:p>
            <a:pPr marL="0" indent="0" algn="l">
              <a:lnSpc>
                <a:spcPct val="115000"/>
              </a:lnSpc>
              <a:spcBef>
                <a:spcPts val="1000"/>
              </a:spcBef>
              <a:spcAft>
                <a:spcPts val="100"/>
              </a:spcAft>
              <a:buNone/>
            </a:pPr>
            <a:r>
              <a:rPr sz="1150" b="1" i="0">
                <a:solidFill>
                  <a:srgbClr val="1F4E78"/>
                </a:solidFill>
                <a:latin typeface="Arial"/>
              </a:rPr>
              <a:t>A snapshot, not a timeline</a:t>
            </a:r>
          </a:p>
          <a:p>
            <a:pPr marL="0" indent="0" algn="l">
              <a:lnSpc>
                <a:spcPct val="115000"/>
              </a:lnSpc>
              <a:spcBef>
                <a:spcPts val="0"/>
              </a:spcBef>
              <a:spcAft>
                <a:spcPts val="0"/>
              </a:spcAft>
              <a:buNone/>
            </a:pPr>
            <a:r>
              <a:rPr sz="1050" b="0" i="0">
                <a:solidFill>
                  <a:srgbClr val="1B2733"/>
                </a:solidFill>
                <a:latin typeface="Arial"/>
              </a:rPr>
              <a:t>There is no cancellation date, only a Yes/No flag, so I can say who has churned but not when. No survival curve, no true cohort retention.</a:t>
            </a:r>
          </a:p>
          <a:p>
            <a:pPr marL="0" indent="0" algn="l">
              <a:lnSpc>
                <a:spcPct val="115000"/>
              </a:lnSpc>
              <a:spcBef>
                <a:spcPts val="1000"/>
              </a:spcBef>
              <a:spcAft>
                <a:spcPts val="100"/>
              </a:spcAft>
              <a:buNone/>
            </a:pPr>
            <a:r>
              <a:rPr sz="1150" b="1" i="0">
                <a:solidFill>
                  <a:srgbClr val="1F4E78"/>
                </a:solidFill>
                <a:latin typeface="Arial"/>
              </a:rPr>
              <a:t>Association is not cause</a:t>
            </a:r>
          </a:p>
          <a:p>
            <a:pPr marL="0" indent="0" algn="l">
              <a:lnSpc>
                <a:spcPct val="115000"/>
              </a:lnSpc>
              <a:spcBef>
                <a:spcPts val="0"/>
              </a:spcBef>
              <a:spcAft>
                <a:spcPts val="0"/>
              </a:spcAft>
              <a:buNone/>
            </a:pPr>
            <a:r>
              <a:rPr sz="1050" b="0" i="0">
                <a:solidFill>
                  <a:srgbClr val="1B2733"/>
                </a:solidFill>
                <a:latin typeface="Arial"/>
              </a:rPr>
              <a:t>Low usage and churn go together. Nothing in this dataset establishes which one comes first.</a:t>
            </a:r>
          </a:p>
          <a:p>
            <a:pPr marL="0" indent="0" algn="l">
              <a:lnSpc>
                <a:spcPct val="115000"/>
              </a:lnSpc>
              <a:spcBef>
                <a:spcPts val="1000"/>
              </a:spcBef>
              <a:spcAft>
                <a:spcPts val="100"/>
              </a:spcAft>
              <a:buNone/>
            </a:pPr>
            <a:r>
              <a:rPr sz="1150" b="1" i="0">
                <a:solidFill>
                  <a:srgbClr val="1F4E78"/>
                </a:solidFill>
                <a:latin typeface="Arial"/>
              </a:rPr>
              <a:t>260 excluded values</a:t>
            </a:r>
          </a:p>
          <a:p>
            <a:pPr marL="0" indent="0" algn="l">
              <a:lnSpc>
                <a:spcPct val="115000"/>
              </a:lnSpc>
              <a:spcBef>
                <a:spcPts val="0"/>
              </a:spcBef>
              <a:spcAft>
                <a:spcPts val="0"/>
              </a:spcAft>
              <a:buNone/>
            </a:pPr>
            <a:r>
              <a:rPr sz="1050" b="0" i="0">
                <a:solidFill>
                  <a:srgbClr val="1B2733"/>
                </a:solidFill>
                <a:latin typeface="Arial"/>
              </a:rPr>
              <a:t>Blanks were excluded rather than imputed. If usage is blank because the customer never used the product, the usage gap is understated, not overstated.</a:t>
            </a:r>
          </a:p>
        </p:txBody>
      </p:sp>
      <p:sp>
        <p:nvSpPr>
          <p:cNvPr id="17" name="Rounded Rectangle 16"/>
          <p:cNvSpPr/>
          <p:nvPr/>
        </p:nvSpPr>
        <p:spPr>
          <a:xfrm>
            <a:off x="6199632" y="1627632"/>
            <a:ext cx="5440680" cy="3703320"/>
          </a:xfrm>
          <a:prstGeom prst="roundRect">
            <a:avLst>
              <a:gd name="adj" fmla="val 1799"/>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3952" y="1810512"/>
            <a:ext cx="4937760" cy="256032"/>
          </a:xfrm>
          <a:prstGeom prst="rect">
            <a:avLst/>
          </a:prstGeom>
          <a:noFill/>
        </p:spPr>
        <p:txBody>
          <a:bodyPr wrap="square" lIns="0" tIns="0" rIns="0" bIns="0" anchor="t">
            <a:spAutoFit/>
          </a:bodyPr>
          <a:lstStyle/>
          <a:p>
            <a:pPr marL="0" indent="0" algn="l">
              <a:lnSpc>
                <a:spcPct val="115000"/>
              </a:lnSpc>
              <a:spcBef>
                <a:spcPts val="0"/>
              </a:spcBef>
              <a:spcAft>
                <a:spcPts val="0"/>
              </a:spcAft>
              <a:buNone/>
            </a:pPr>
            <a:r>
              <a:rPr sz="1100" b="1" i="0" spc="100">
                <a:solidFill>
                  <a:srgbClr val="2E75B6"/>
                </a:solidFill>
                <a:latin typeface="Arial"/>
              </a:rPr>
              <a:t>WHAT IT MEANS FOR THE FINDINGS</a:t>
            </a:r>
          </a:p>
        </p:txBody>
      </p:sp>
      <p:sp>
        <p:nvSpPr>
          <p:cNvPr id="19" name="TextBox 18"/>
          <p:cNvSpPr txBox="1"/>
          <p:nvPr/>
        </p:nvSpPr>
        <p:spPr>
          <a:xfrm>
            <a:off x="6473952" y="2212848"/>
            <a:ext cx="4937760" cy="3474720"/>
          </a:xfrm>
          <a:prstGeom prst="rect">
            <a:avLst/>
          </a:prstGeom>
          <a:noFill/>
        </p:spPr>
        <p:txBody>
          <a:bodyPr wrap="square" lIns="0" tIns="0" rIns="0" bIns="0" anchor="t">
            <a:spAutoFit/>
          </a:bodyPr>
          <a:lstStyle/>
          <a:p>
            <a:pPr marL="0" indent="0" algn="l">
              <a:lnSpc>
                <a:spcPct val="115000"/>
              </a:lnSpc>
              <a:spcBef>
                <a:spcPts val="0"/>
              </a:spcBef>
              <a:spcAft>
                <a:spcPts val="100"/>
              </a:spcAft>
              <a:buNone/>
            </a:pPr>
            <a:r>
              <a:rPr sz="1150" b="1" i="0">
                <a:solidFill>
                  <a:srgbClr val="1F4E78"/>
                </a:solidFill>
                <a:latin typeface="Arial"/>
              </a:rPr>
              <a:t>Missing context</a:t>
            </a:r>
          </a:p>
          <a:p>
            <a:pPr marL="0" indent="0" algn="l">
              <a:lnSpc>
                <a:spcPct val="115000"/>
              </a:lnSpc>
              <a:spcBef>
                <a:spcPts val="0"/>
              </a:spcBef>
              <a:spcAft>
                <a:spcPts val="0"/>
              </a:spcAft>
              <a:buNone/>
            </a:pPr>
            <a:r>
              <a:rPr sz="1050" b="0" i="0">
                <a:solidFill>
                  <a:srgbClr val="1B2733"/>
                </a:solidFill>
                <a:latin typeface="Arial"/>
              </a:rPr>
              <a:t>No price history, discounts, competitor moves or macro conditions. A driver that sits outside the file cannot appear in the answer.</a:t>
            </a:r>
          </a:p>
          <a:p>
            <a:pPr marL="0" indent="0" algn="l">
              <a:lnSpc>
                <a:spcPct val="115000"/>
              </a:lnSpc>
              <a:spcBef>
                <a:spcPts val="1000"/>
              </a:spcBef>
              <a:spcAft>
                <a:spcPts val="100"/>
              </a:spcAft>
              <a:buNone/>
            </a:pPr>
            <a:r>
              <a:rPr sz="1150" b="1" i="0">
                <a:solidFill>
                  <a:srgbClr val="1F4E78"/>
                </a:solidFill>
                <a:latin typeface="Arial"/>
              </a:rPr>
              <a:t>Thin cells</a:t>
            </a:r>
          </a:p>
          <a:p>
            <a:pPr marL="0" indent="0" algn="l">
              <a:lnSpc>
                <a:spcPct val="115000"/>
              </a:lnSpc>
              <a:spcBef>
                <a:spcPts val="0"/>
              </a:spcBef>
              <a:spcAft>
                <a:spcPts val="0"/>
              </a:spcAft>
              <a:buNone/>
            </a:pPr>
            <a:r>
              <a:rPr sz="1050" b="0" i="0">
                <a:solidFill>
                  <a:srgbClr val="1B2733"/>
                </a:solidFill>
                <a:latin typeface="Arial"/>
              </a:rPr>
              <a:t>Some bars rest on very few customers: the Dormant login band is 12 people, six support tickets is 11, the Unknown plan is 5. Dormant still clears the base rate comfortably, but the others are shown rather than interpreted.</a:t>
            </a:r>
          </a:p>
          <a:p>
            <a:pPr marL="0" indent="0" algn="l">
              <a:lnSpc>
                <a:spcPct val="115000"/>
              </a:lnSpc>
              <a:spcBef>
                <a:spcPts val="1000"/>
              </a:spcBef>
              <a:spcAft>
                <a:spcPts val="100"/>
              </a:spcAft>
              <a:buNone/>
            </a:pPr>
            <a:r>
              <a:rPr sz="1150" b="1" i="0">
                <a:solidFill>
                  <a:srgbClr val="1F4E78"/>
                </a:solidFill>
                <a:latin typeface="Arial"/>
              </a:rPr>
              <a:t>Direction of the price finding</a:t>
            </a:r>
          </a:p>
          <a:p>
            <a:pPr marL="0" indent="0" algn="l">
              <a:lnSpc>
                <a:spcPct val="115000"/>
              </a:lnSpc>
              <a:spcBef>
                <a:spcPts val="0"/>
              </a:spcBef>
              <a:spcAft>
                <a:spcPts val="0"/>
              </a:spcAft>
              <a:buNone/>
            </a:pPr>
            <a:r>
              <a:rPr sz="1050" b="0" i="0">
                <a:solidFill>
                  <a:srgbClr val="1B2733"/>
                </a:solidFill>
                <a:latin typeface="Arial"/>
              </a:rPr>
              <a:t>Cheaper plans churning more almost certainly reflects who buys Basic, not the price itself. Cutting prices would be the wrong reading of this chart.</a:t>
            </a:r>
          </a:p>
          <a:p>
            <a:pPr marL="0" indent="0" algn="l">
              <a:lnSpc>
                <a:spcPct val="115000"/>
              </a:lnSpc>
              <a:spcBef>
                <a:spcPts val="1000"/>
              </a:spcBef>
              <a:spcAft>
                <a:spcPts val="100"/>
              </a:spcAft>
              <a:buNone/>
            </a:pPr>
            <a:r>
              <a:rPr sz="1150" b="1" i="0">
                <a:solidFill>
                  <a:srgbClr val="1F4E78"/>
                </a:solidFill>
                <a:latin typeface="Arial"/>
              </a:rPr>
              <a:t>With more time</a:t>
            </a:r>
          </a:p>
          <a:p>
            <a:pPr marL="0" indent="0" algn="l">
              <a:lnSpc>
                <a:spcPct val="115000"/>
              </a:lnSpc>
              <a:spcBef>
                <a:spcPts val="0"/>
              </a:spcBef>
              <a:spcAft>
                <a:spcPts val="0"/>
              </a:spcAft>
              <a:buNone/>
            </a:pPr>
            <a:r>
              <a:rPr sz="1050" b="0" i="0">
                <a:solidFill>
                  <a:srgbClr val="1B2733"/>
                </a:solidFill>
                <a:latin typeface="Arial"/>
              </a:rPr>
              <a:t>A logistic regression to rank drivers while holding the others constant, and a survival model once cancellation dates exist.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E78"/>
        </a:solidFill>
        <a:effectLst/>
      </p:bgPr>
    </p:bg>
    <p:spTree>
      <p:nvGrpSpPr>
        <p:cNvPr id="1" name=""/>
        <p:cNvGrpSpPr/>
        <p:nvPr/>
      </p:nvGrpSpPr>
      <p:grpSpPr>
        <a:xfrm>
          <a:off x="0" y="0"/>
          <a:ext cx="0" cy="0"/>
          <a:chOff x="0" y="0"/>
          <a:chExt cx="0" cy="0"/>
        </a:xfrm>
      </p:grpSpPr>
      <p:sp>
        <p:nvSpPr>
          <p:cNvPr id="2" name="Shape 0"/>
          <p:cNvSpPr/>
          <p:nvPr/>
        </p:nvSpPr>
        <p:spPr>
          <a:xfrm>
            <a:off x="-914400" y="4572000"/>
            <a:ext cx="2926080" cy="2926080"/>
          </a:xfrm>
          <a:prstGeom prst="ellipse">
            <a:avLst/>
          </a:prstGeom>
          <a:solidFill>
            <a:srgbClr val="2E75B6">
              <a:alpha val="25000"/>
            </a:srgbClr>
          </a:solidFill>
          <a:ln/>
        </p:spPr>
        <p:txBody>
          <a:bodyPr/>
          <a:lstStyle/>
          <a:p>
            <a:endParaRPr/>
          </a:p>
        </p:txBody>
      </p:sp>
      <p:sp>
        <p:nvSpPr>
          <p:cNvPr id="3" name="Text 1"/>
          <p:cNvSpPr/>
          <p:nvPr/>
        </p:nvSpPr>
        <p:spPr>
          <a:xfrm>
            <a:off x="822960" y="2377440"/>
            <a:ext cx="10058400" cy="9144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4" name="Text 2"/>
          <p:cNvSpPr/>
          <p:nvPr/>
        </p:nvSpPr>
        <p:spPr>
          <a:xfrm>
            <a:off x="822960" y="3383280"/>
            <a:ext cx="10058400" cy="457200"/>
          </a:xfrm>
          <a:prstGeom prst="rect">
            <a:avLst/>
          </a:prstGeom>
          <a:noFill/>
          <a:ln/>
        </p:spPr>
        <p:txBody>
          <a:bodyPr wrap="square" rtlCol="0" anchor="ctr"/>
          <a:lstStyle/>
          <a:p>
            <a:pPr marL="0" indent="0">
              <a:buNone/>
            </a:pPr>
            <a:r>
              <a:rPr lang="en-US" sz="1800" i="1" dirty="0">
                <a:solidFill>
                  <a:srgbClr val="CFE0F2"/>
                </a:solidFill>
                <a:latin typeface="Arial" pitchFamily="34" charset="0"/>
                <a:ea typeface="Arial" pitchFamily="34" charset="-122"/>
                <a:cs typeface="Arial" pitchFamily="34" charset="-120"/>
              </a:rPr>
              <a:t>Questions &amp; discussion</a:t>
            </a:r>
            <a:endParaRPr lang="en-US" sz="1800" dirty="0"/>
          </a:p>
        </p:txBody>
      </p:sp>
      <p:sp>
        <p:nvSpPr>
          <p:cNvPr id="5" name="Text 3"/>
          <p:cNvSpPr/>
          <p:nvPr/>
        </p:nvSpPr>
        <p:spPr>
          <a:xfrm>
            <a:off x="822960" y="4206240"/>
            <a:ext cx="10058400" cy="365760"/>
          </a:xfrm>
          <a:prstGeom prst="rect">
            <a:avLst/>
          </a:prstGeom>
          <a:noFill/>
          <a:ln/>
        </p:spPr>
        <p:txBody>
          <a:bodyPr wrap="square" rtlCol="0" anchor="ctr"/>
          <a:lstStyle/>
          <a:p>
            <a:pPr marL="0" indent="0">
              <a:buNone/>
            </a:pPr>
            <a:r>
              <a:rPr lang="en-US" sz="1300" dirty="0">
                <a:solidFill>
                  <a:srgbClr val="A9C5E6"/>
                </a:solidFill>
                <a:latin typeface="Arial" pitchFamily="34" charset="0"/>
                <a:ea typeface="Arial" pitchFamily="34" charset="-122"/>
                <a:cs typeface="Arial" pitchFamily="34" charset="-120"/>
              </a:rPr>
              <a:t>January Sambrook  ·  Power BI PL-300 Capstone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3805</Words>
  <Application>Microsoft Office PowerPoint</Application>
  <PresentationFormat>Widescreen</PresentationFormat>
  <Paragraphs>340</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Presentation Template</dc:title>
  <dc:subject>PptxGenJS Presentation</dc:subject>
  <dc:creator>Newto Training</dc:creator>
  <cp:lastModifiedBy>january sambrook</cp:lastModifiedBy>
  <cp:revision>3</cp:revision>
  <dcterms:created xsi:type="dcterms:W3CDTF">2026-06-11T16:02:30Z</dcterms:created>
  <dcterms:modified xsi:type="dcterms:W3CDTF">2026-09-08T13:55:53Z</dcterms:modified>
</cp:coreProperties>
</file>